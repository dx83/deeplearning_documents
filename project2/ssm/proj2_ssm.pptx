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</p:sldIdLst>
  <p:sldSz cy="13716000" cx="2438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9" roundtripDataSignature="AMtx7miJxPl8pKk92WwlqPqY3NlfCkO4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/>
          <p:nvPr/>
        </p:nvSpPr>
        <p:spPr>
          <a:xfrm>
            <a:off x="0" y="0"/>
            <a:ext cx="24384304" cy="13716000"/>
          </a:xfrm>
          <a:prstGeom prst="rect">
            <a:avLst/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658368" y="-411480"/>
            <a:ext cx="23070312" cy="134599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1536192" y="896112"/>
            <a:ext cx="21689568" cy="786384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2103120" y="1093060"/>
            <a:ext cx="64008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01. 형상 검색 구조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16916400" y="1139952"/>
            <a:ext cx="57150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외형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유사도 검색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1463040" y="2029968"/>
            <a:ext cx="214428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형상으로 </a:t>
            </a:r>
            <a:r>
              <a:rPr lang="en-US" sz="5800"/>
              <a:t>외</a:t>
            </a:r>
            <a:r>
              <a:rPr b="0" i="0" lang="en-US" sz="5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형 후보를 좁히는 </a:t>
            </a:r>
            <a:r>
              <a:rPr b="0" i="0" lang="en-US" sz="5800" u="none" cap="none" strike="noStrike">
                <a:solidFill>
                  <a:srgbClr val="1C73FF"/>
                </a:solidFill>
                <a:latin typeface="Arial"/>
                <a:ea typeface="Arial"/>
                <a:cs typeface="Arial"/>
                <a:sym typeface="Arial"/>
              </a:rPr>
              <a:t>검색 구조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3657600" y="2926080"/>
            <a:ext cx="170718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알약의 외곽 윤곽을 수치화해 새 이미지와 형태가 가까운 </a:t>
            </a:r>
            <a:r>
              <a:rPr lang="en-US" sz="2300">
                <a:solidFill>
                  <a:srgbClr val="595959"/>
                </a:solidFill>
              </a:rPr>
              <a:t>외</a:t>
            </a:r>
            <a:r>
              <a:rPr b="0" i="0" lang="en-US" sz="23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형을 찾습니다.</a:t>
            </a:r>
            <a:endParaRPr/>
          </a:p>
        </p:txBody>
      </p:sp>
      <p:sp>
        <p:nvSpPr>
          <p:cNvPr id="92" name="Google Shape;92;p1"/>
          <p:cNvSpPr/>
          <p:nvPr/>
        </p:nvSpPr>
        <p:spPr>
          <a:xfrm>
            <a:off x="1508760" y="3794760"/>
            <a:ext cx="8732520" cy="7059168"/>
          </a:xfrm>
          <a:prstGeom prst="roundRect">
            <a:avLst>
              <a:gd fmla="val 16667" name="adj"/>
            </a:avLst>
          </a:prstGeom>
          <a:solidFill>
            <a:srgbClr val="F4F7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965960" y="4041648"/>
            <a:ext cx="3474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검색 과정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1938528" y="4709160"/>
            <a:ext cx="7882127" cy="8412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2176272" y="4855464"/>
            <a:ext cx="548640" cy="548640"/>
          </a:xfrm>
          <a:prstGeom prst="ellipse">
            <a:avLst/>
          </a:prstGeom>
          <a:solidFill>
            <a:srgbClr val="50C4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2176272" y="485546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2944368" y="4800600"/>
            <a:ext cx="6492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알약 이미지 입력</a:t>
            </a:r>
            <a:endParaRPr/>
          </a:p>
        </p:txBody>
      </p:sp>
      <p:sp>
        <p:nvSpPr>
          <p:cNvPr id="98" name="Google Shape;98;p1"/>
          <p:cNvSpPr/>
          <p:nvPr/>
        </p:nvSpPr>
        <p:spPr>
          <a:xfrm>
            <a:off x="5696712" y="5605272"/>
            <a:ext cx="438912" cy="256032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1938528" y="5870448"/>
            <a:ext cx="7882127" cy="8412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2176272" y="6016752"/>
            <a:ext cx="548640" cy="548640"/>
          </a:xfrm>
          <a:prstGeom prst="ellipse">
            <a:avLst/>
          </a:prstGeom>
          <a:solidFill>
            <a:srgbClr val="50C4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2176272" y="601675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02" name="Google Shape;102;p1"/>
          <p:cNvSpPr txBox="1"/>
          <p:nvPr/>
        </p:nvSpPr>
        <p:spPr>
          <a:xfrm>
            <a:off x="2944368" y="5961888"/>
            <a:ext cx="6492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알약 영역 분리</a:t>
            </a:r>
            <a:endParaRPr/>
          </a:p>
        </p:txBody>
      </p:sp>
      <p:sp>
        <p:nvSpPr>
          <p:cNvPr id="103" name="Google Shape;103;p1"/>
          <p:cNvSpPr/>
          <p:nvPr/>
        </p:nvSpPr>
        <p:spPr>
          <a:xfrm>
            <a:off x="5696712" y="6766560"/>
            <a:ext cx="438912" cy="256032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1938528" y="7031736"/>
            <a:ext cx="7882127" cy="841248"/>
          </a:xfrm>
          <a:prstGeom prst="roundRect">
            <a:avLst>
              <a:gd fmla="val 16667" name="adj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/>
          <p:nvPr/>
        </p:nvSpPr>
        <p:spPr>
          <a:xfrm>
            <a:off x="2176272" y="7178040"/>
            <a:ext cx="548640" cy="548640"/>
          </a:xfrm>
          <a:prstGeom prst="ellipse">
            <a:avLst/>
          </a:prstGeom>
          <a:solidFill>
            <a:srgbClr val="50C4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2176272" y="71780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07" name="Google Shape;107;p1"/>
          <p:cNvSpPr txBox="1"/>
          <p:nvPr/>
        </p:nvSpPr>
        <p:spPr>
          <a:xfrm>
            <a:off x="2944368" y="7123175"/>
            <a:ext cx="6492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56차원 형상 임베딩</a:t>
            </a:r>
            <a:endParaRPr/>
          </a:p>
        </p:txBody>
      </p:sp>
      <p:sp>
        <p:nvSpPr>
          <p:cNvPr id="108" name="Google Shape;108;p1"/>
          <p:cNvSpPr/>
          <p:nvPr/>
        </p:nvSpPr>
        <p:spPr>
          <a:xfrm>
            <a:off x="5696712" y="7927848"/>
            <a:ext cx="438912" cy="256032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1938528" y="8193023"/>
            <a:ext cx="7882127" cy="8412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/>
          <p:nvPr/>
        </p:nvSpPr>
        <p:spPr>
          <a:xfrm>
            <a:off x="2176272" y="8339327"/>
            <a:ext cx="548640" cy="548640"/>
          </a:xfrm>
          <a:prstGeom prst="ellipse">
            <a:avLst/>
          </a:prstGeom>
          <a:solidFill>
            <a:srgbClr val="50C4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2176272" y="8339327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12" name="Google Shape;112;p1"/>
          <p:cNvSpPr txBox="1"/>
          <p:nvPr/>
        </p:nvSpPr>
        <p:spPr>
          <a:xfrm>
            <a:off x="2944368" y="8407555"/>
            <a:ext cx="6492300" cy="41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각 </a:t>
            </a:r>
            <a:r>
              <a:rPr b="1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품목 </a:t>
            </a:r>
            <a:r>
              <a:rPr b="1" lang="en-US" sz="2200"/>
              <a:t>대표 벡터와</a:t>
            </a:r>
            <a:r>
              <a:rPr b="1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거리 비교</a:t>
            </a:r>
            <a:endParaRPr/>
          </a:p>
        </p:txBody>
      </p:sp>
      <p:sp>
        <p:nvSpPr>
          <p:cNvPr id="113" name="Google Shape;113;p1"/>
          <p:cNvSpPr/>
          <p:nvPr/>
        </p:nvSpPr>
        <p:spPr>
          <a:xfrm>
            <a:off x="5696712" y="9089136"/>
            <a:ext cx="438912" cy="256032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1938528" y="9354311"/>
            <a:ext cx="7882127" cy="841248"/>
          </a:xfrm>
          <a:prstGeom prst="roundRect">
            <a:avLst>
              <a:gd fmla="val 16667" name="adj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2176272" y="9500615"/>
            <a:ext cx="548640" cy="548640"/>
          </a:xfrm>
          <a:prstGeom prst="ellipse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2176272" y="9500615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117" name="Google Shape;117;p1"/>
          <p:cNvSpPr txBox="1"/>
          <p:nvPr/>
        </p:nvSpPr>
        <p:spPr>
          <a:xfrm>
            <a:off x="2944368" y="9557947"/>
            <a:ext cx="6492300" cy="41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29개 </a:t>
            </a:r>
            <a:r>
              <a:rPr b="1" lang="en-US" sz="2200">
                <a:solidFill>
                  <a:srgbClr val="FFFFFF"/>
                </a:solidFill>
              </a:rPr>
              <a:t>클래스</a:t>
            </a: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중 Top-k 반환</a:t>
            </a:r>
            <a:endParaRPr/>
          </a:p>
        </p:txBody>
      </p:sp>
      <p:sp>
        <p:nvSpPr>
          <p:cNvPr id="118" name="Google Shape;118;p1"/>
          <p:cNvSpPr/>
          <p:nvPr/>
        </p:nvSpPr>
        <p:spPr>
          <a:xfrm>
            <a:off x="10634472" y="3794760"/>
            <a:ext cx="12234672" cy="7059168"/>
          </a:xfrm>
          <a:prstGeom prst="roundRect">
            <a:avLst>
              <a:gd fmla="val 16667" name="adj"/>
            </a:avLst>
          </a:prstGeom>
          <a:solidFill>
            <a:srgbClr val="F4F7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 txBox="1"/>
          <p:nvPr/>
        </p:nvSpPr>
        <p:spPr>
          <a:xfrm>
            <a:off x="11100816" y="4041648"/>
            <a:ext cx="47548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형상 추출 예시</a:t>
            </a:r>
            <a:endParaRPr/>
          </a:p>
        </p:txBody>
      </p:sp>
      <p:sp>
        <p:nvSpPr>
          <p:cNvPr id="120" name="Google Shape;120;p1"/>
          <p:cNvSpPr/>
          <p:nvPr/>
        </p:nvSpPr>
        <p:spPr>
          <a:xfrm>
            <a:off x="11082528" y="4681728"/>
            <a:ext cx="11338560" cy="5349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ape_extraction_process.png" id="121" name="Google Shape;12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83783" y="4828032"/>
            <a:ext cx="8936049" cy="50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"/>
          <p:cNvSpPr txBox="1"/>
          <p:nvPr/>
        </p:nvSpPr>
        <p:spPr>
          <a:xfrm>
            <a:off x="13423392" y="10104120"/>
            <a:ext cx="65836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C73FF"/>
                </a:solidFill>
                <a:latin typeface="Arial"/>
                <a:ea typeface="Arial"/>
                <a:cs typeface="Arial"/>
                <a:sym typeface="Arial"/>
              </a:rPr>
              <a:t>입력 이미지  →  외곽 윤곽 표현</a:t>
            </a:r>
            <a:endParaRPr/>
          </a:p>
        </p:txBody>
      </p:sp>
      <p:sp>
        <p:nvSpPr>
          <p:cNvPr id="123" name="Google Shape;123;p1"/>
          <p:cNvSpPr/>
          <p:nvPr/>
        </p:nvSpPr>
        <p:spPr>
          <a:xfrm>
            <a:off x="1508760" y="11201400"/>
            <a:ext cx="6903720" cy="9784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C73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"/>
          <p:cNvSpPr txBox="1"/>
          <p:nvPr/>
        </p:nvSpPr>
        <p:spPr>
          <a:xfrm>
            <a:off x="1664301" y="11550815"/>
            <a:ext cx="65745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opencv를 이용한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윤곽 특징 계산</a:t>
            </a:r>
            <a:endParaRPr/>
          </a:p>
        </p:txBody>
      </p:sp>
      <p:sp>
        <p:nvSpPr>
          <p:cNvPr id="125" name="Google Shape;125;p1"/>
          <p:cNvSpPr/>
          <p:nvPr/>
        </p:nvSpPr>
        <p:spPr>
          <a:xfrm>
            <a:off x="8741664" y="11201400"/>
            <a:ext cx="6903720" cy="9784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C73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8897206" y="11550815"/>
            <a:ext cx="65745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데이터가 적은 제형들 포함</a:t>
            </a:r>
            <a:endParaRPr/>
          </a:p>
        </p:txBody>
      </p:sp>
      <p:sp>
        <p:nvSpPr>
          <p:cNvPr id="127" name="Google Shape;127;p1"/>
          <p:cNvSpPr/>
          <p:nvPr/>
        </p:nvSpPr>
        <p:spPr>
          <a:xfrm>
            <a:off x="15974567" y="11201400"/>
            <a:ext cx="6903720" cy="9784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C73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"/>
          <p:cNvSpPr txBox="1"/>
          <p:nvPr/>
        </p:nvSpPr>
        <p:spPr>
          <a:xfrm>
            <a:off x="16130109" y="11550815"/>
            <a:ext cx="65745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회전·반전 영향을 줄여 형상 비교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"/>
          <p:cNvSpPr/>
          <p:nvPr/>
        </p:nvSpPr>
        <p:spPr>
          <a:xfrm>
            <a:off x="0" y="0"/>
            <a:ext cx="24384304" cy="13716000"/>
          </a:xfrm>
          <a:prstGeom prst="rect">
            <a:avLst/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"/>
          <p:cNvSpPr/>
          <p:nvPr/>
        </p:nvSpPr>
        <p:spPr>
          <a:xfrm>
            <a:off x="658368" y="-411480"/>
            <a:ext cx="23070312" cy="134599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"/>
          <p:cNvSpPr/>
          <p:nvPr/>
        </p:nvSpPr>
        <p:spPr>
          <a:xfrm>
            <a:off x="1536192" y="896112"/>
            <a:ext cx="21689568" cy="786384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"/>
          <p:cNvSpPr txBox="1"/>
          <p:nvPr/>
        </p:nvSpPr>
        <p:spPr>
          <a:xfrm>
            <a:off x="2103120" y="987552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02. 형상 인덱스</a:t>
            </a:r>
            <a:endParaRPr/>
          </a:p>
        </p:txBody>
      </p:sp>
      <p:sp>
        <p:nvSpPr>
          <p:cNvPr id="138" name="Google Shape;138;p2"/>
          <p:cNvSpPr txBox="1"/>
          <p:nvPr/>
        </p:nvSpPr>
        <p:spPr>
          <a:xfrm>
            <a:off x="16916400" y="987552"/>
            <a:ext cx="5715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제형 유사도 검색</a:t>
            </a:r>
            <a:endParaRPr/>
          </a:p>
        </p:txBody>
      </p:sp>
      <p:sp>
        <p:nvSpPr>
          <p:cNvPr id="139" name="Google Shape;139;p2"/>
          <p:cNvSpPr txBox="1"/>
          <p:nvPr/>
        </p:nvSpPr>
        <p:spPr>
          <a:xfrm>
            <a:off x="1463040" y="2029968"/>
            <a:ext cx="214428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56차원 특징에서 </a:t>
            </a:r>
            <a:r>
              <a:rPr b="0" i="0" lang="en-US" sz="5800" u="none" cap="none" strike="noStrike">
                <a:solidFill>
                  <a:srgbClr val="1C73FF"/>
                </a:solidFill>
                <a:latin typeface="Arial"/>
                <a:ea typeface="Arial"/>
                <a:cs typeface="Arial"/>
                <a:sym typeface="Arial"/>
              </a:rPr>
              <a:t>29개 </a:t>
            </a:r>
            <a:r>
              <a:rPr lang="en-US" sz="5800">
                <a:solidFill>
                  <a:srgbClr val="1C73FF"/>
                </a:solidFill>
              </a:rPr>
              <a:t>클래스</a:t>
            </a:r>
            <a:r>
              <a:rPr b="0" i="0" lang="en-US" sz="5800" u="none" cap="none" strike="noStrike">
                <a:solidFill>
                  <a:srgbClr val="1C73FF"/>
                </a:solidFill>
                <a:latin typeface="Arial"/>
                <a:ea typeface="Arial"/>
                <a:cs typeface="Arial"/>
                <a:sym typeface="Arial"/>
              </a:rPr>
              <a:t> 인덱스</a:t>
            </a:r>
            <a:r>
              <a:rPr b="0" i="0" lang="en-US" sz="5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로</a:t>
            </a:r>
            <a:endParaRPr/>
          </a:p>
        </p:txBody>
      </p:sp>
      <p:sp>
        <p:nvSpPr>
          <p:cNvPr id="140" name="Google Shape;140;p2"/>
          <p:cNvSpPr txBox="1"/>
          <p:nvPr/>
        </p:nvSpPr>
        <p:spPr>
          <a:xfrm>
            <a:off x="2834640" y="2926080"/>
            <a:ext cx="187177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윤곽 특징을 결합하고 이미지 정보를 품목과 제형 단위의 대표 벡터로 집계했습니다.</a:t>
            </a:r>
            <a:endParaRPr/>
          </a:p>
        </p:txBody>
      </p:sp>
      <p:sp>
        <p:nvSpPr>
          <p:cNvPr id="141" name="Google Shape;141;p2"/>
          <p:cNvSpPr/>
          <p:nvPr/>
        </p:nvSpPr>
        <p:spPr>
          <a:xfrm>
            <a:off x="1508760" y="3822191"/>
            <a:ext cx="12801600" cy="7040880"/>
          </a:xfrm>
          <a:prstGeom prst="roundRect">
            <a:avLst>
              <a:gd fmla="val 16667" name="adj"/>
            </a:avLst>
          </a:prstGeom>
          <a:solidFill>
            <a:srgbClr val="F4F7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"/>
          <p:cNvSpPr txBox="1"/>
          <p:nvPr/>
        </p:nvSpPr>
        <p:spPr>
          <a:xfrm>
            <a:off x="1965960" y="4742258"/>
            <a:ext cx="6583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56차원 형상 임베딩 구성</a:t>
            </a:r>
            <a:endParaRPr/>
          </a:p>
        </p:txBody>
      </p:sp>
      <p:sp>
        <p:nvSpPr>
          <p:cNvPr id="143" name="Google Shape;143;p2"/>
          <p:cNvSpPr txBox="1"/>
          <p:nvPr/>
        </p:nvSpPr>
        <p:spPr>
          <a:xfrm>
            <a:off x="1993392" y="5519498"/>
            <a:ext cx="27432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기본 기하 특징</a:t>
            </a:r>
            <a:endParaRPr/>
          </a:p>
        </p:txBody>
      </p:sp>
      <p:sp>
        <p:nvSpPr>
          <p:cNvPr id="144" name="Google Shape;144;p2"/>
          <p:cNvSpPr txBox="1"/>
          <p:nvPr/>
        </p:nvSpPr>
        <p:spPr>
          <a:xfrm>
            <a:off x="4690872" y="5519498"/>
            <a:ext cx="14172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9차원</a:t>
            </a:r>
            <a:endParaRPr/>
          </a:p>
        </p:txBody>
      </p:sp>
      <p:sp>
        <p:nvSpPr>
          <p:cNvPr id="145" name="Google Shape;145;p2"/>
          <p:cNvSpPr txBox="1"/>
          <p:nvPr/>
        </p:nvSpPr>
        <p:spPr>
          <a:xfrm>
            <a:off x="6172200" y="5519500"/>
            <a:ext cx="31470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비율 · 원형도 · </a:t>
            </a:r>
            <a:r>
              <a:rPr lang="en-US" sz="1700">
                <a:solidFill>
                  <a:srgbClr val="595959"/>
                </a:solidFill>
              </a:rPr>
              <a:t>오목도</a:t>
            </a:r>
            <a:r>
              <a:rPr b="0" i="0" lang="en-US" sz="1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· 대칭도</a:t>
            </a:r>
            <a:endParaRPr/>
          </a:p>
        </p:txBody>
      </p:sp>
      <p:sp>
        <p:nvSpPr>
          <p:cNvPr id="146" name="Google Shape;146;p2"/>
          <p:cNvSpPr txBox="1"/>
          <p:nvPr/>
        </p:nvSpPr>
        <p:spPr>
          <a:xfrm>
            <a:off x="1993392" y="6872809"/>
            <a:ext cx="27432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EFD</a:t>
            </a:r>
            <a:endParaRPr/>
          </a:p>
        </p:txBody>
      </p:sp>
      <p:sp>
        <p:nvSpPr>
          <p:cNvPr id="147" name="Google Shape;147;p2"/>
          <p:cNvSpPr txBox="1"/>
          <p:nvPr/>
        </p:nvSpPr>
        <p:spPr>
          <a:xfrm>
            <a:off x="4690872" y="6872809"/>
            <a:ext cx="14172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24차원</a:t>
            </a:r>
            <a:endParaRPr/>
          </a:p>
        </p:txBody>
      </p:sp>
      <p:sp>
        <p:nvSpPr>
          <p:cNvPr id="148" name="Google Shape;148;p2"/>
          <p:cNvSpPr txBox="1"/>
          <p:nvPr/>
        </p:nvSpPr>
        <p:spPr>
          <a:xfrm>
            <a:off x="6172200" y="6872808"/>
            <a:ext cx="31470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595959"/>
                </a:solidFill>
              </a:rPr>
              <a:t>외곽선 좌표</a:t>
            </a:r>
            <a:endParaRPr/>
          </a:p>
        </p:txBody>
      </p:sp>
      <p:sp>
        <p:nvSpPr>
          <p:cNvPr id="149" name="Google Shape;149;p2"/>
          <p:cNvSpPr txBox="1"/>
          <p:nvPr/>
        </p:nvSpPr>
        <p:spPr>
          <a:xfrm>
            <a:off x="1993392" y="8226122"/>
            <a:ext cx="27432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방사형 FFT</a:t>
            </a:r>
            <a:endParaRPr/>
          </a:p>
        </p:txBody>
      </p:sp>
      <p:sp>
        <p:nvSpPr>
          <p:cNvPr id="150" name="Google Shape;150;p2"/>
          <p:cNvSpPr txBox="1"/>
          <p:nvPr/>
        </p:nvSpPr>
        <p:spPr>
          <a:xfrm>
            <a:off x="4690872" y="8226122"/>
            <a:ext cx="14172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16차원</a:t>
            </a:r>
            <a:endParaRPr/>
          </a:p>
        </p:txBody>
      </p:sp>
      <p:sp>
        <p:nvSpPr>
          <p:cNvPr id="151" name="Google Shape;151;p2"/>
          <p:cNvSpPr txBox="1"/>
          <p:nvPr/>
        </p:nvSpPr>
        <p:spPr>
          <a:xfrm>
            <a:off x="6172200" y="8226117"/>
            <a:ext cx="31470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595959"/>
                </a:solidFill>
              </a:rPr>
              <a:t>중심에서 외곽까지 거리</a:t>
            </a:r>
            <a:endParaRPr/>
          </a:p>
        </p:txBody>
      </p:sp>
      <p:sp>
        <p:nvSpPr>
          <p:cNvPr id="152" name="Google Shape;152;p2"/>
          <p:cNvSpPr txBox="1"/>
          <p:nvPr/>
        </p:nvSpPr>
        <p:spPr>
          <a:xfrm>
            <a:off x="1993392" y="9579434"/>
            <a:ext cx="27432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Hu moment</a:t>
            </a:r>
            <a:endParaRPr/>
          </a:p>
        </p:txBody>
      </p:sp>
      <p:sp>
        <p:nvSpPr>
          <p:cNvPr id="153" name="Google Shape;153;p2"/>
          <p:cNvSpPr txBox="1"/>
          <p:nvPr/>
        </p:nvSpPr>
        <p:spPr>
          <a:xfrm>
            <a:off x="4690872" y="9579434"/>
            <a:ext cx="14172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7차원</a:t>
            </a:r>
            <a:endParaRPr/>
          </a:p>
        </p:txBody>
      </p:sp>
      <p:sp>
        <p:nvSpPr>
          <p:cNvPr id="154" name="Google Shape;154;p2"/>
          <p:cNvSpPr txBox="1"/>
          <p:nvPr/>
        </p:nvSpPr>
        <p:spPr>
          <a:xfrm>
            <a:off x="6172200" y="9579426"/>
            <a:ext cx="31470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595959"/>
                </a:solidFill>
              </a:rPr>
              <a:t>전체 면적 분포</a:t>
            </a:r>
            <a:endParaRPr/>
          </a:p>
        </p:txBody>
      </p:sp>
      <p:sp>
        <p:nvSpPr>
          <p:cNvPr id="155" name="Google Shape;155;p2"/>
          <p:cNvSpPr/>
          <p:nvPr/>
        </p:nvSpPr>
        <p:spPr>
          <a:xfrm>
            <a:off x="14703551" y="3822191"/>
            <a:ext cx="8165592" cy="7040880"/>
          </a:xfrm>
          <a:prstGeom prst="roundRect">
            <a:avLst>
              <a:gd fmla="val 16667" name="adj"/>
            </a:avLst>
          </a:prstGeom>
          <a:solidFill>
            <a:srgbClr val="F4F7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 txBox="1"/>
          <p:nvPr/>
        </p:nvSpPr>
        <p:spPr>
          <a:xfrm>
            <a:off x="15160751" y="4069080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인덱스 생성 과정</a:t>
            </a:r>
            <a:endParaRPr/>
          </a:p>
        </p:txBody>
      </p:sp>
      <p:sp>
        <p:nvSpPr>
          <p:cNvPr id="157" name="Google Shape;157;p2"/>
          <p:cNvSpPr/>
          <p:nvPr/>
        </p:nvSpPr>
        <p:spPr>
          <a:xfrm>
            <a:off x="15590520" y="4800600"/>
            <a:ext cx="6382512" cy="13898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"/>
          <p:cNvSpPr txBox="1"/>
          <p:nvPr/>
        </p:nvSpPr>
        <p:spPr>
          <a:xfrm>
            <a:off x="15956280" y="5218251"/>
            <a:ext cx="28803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50C4EE"/>
                </a:solidFill>
                <a:latin typeface="Arial"/>
                <a:ea typeface="Arial"/>
                <a:cs typeface="Arial"/>
                <a:sym typeface="Arial"/>
              </a:rPr>
              <a:t>54,282장</a:t>
            </a:r>
            <a:endParaRPr/>
          </a:p>
        </p:txBody>
      </p:sp>
      <p:sp>
        <p:nvSpPr>
          <p:cNvPr id="159" name="Google Shape;159;p2"/>
          <p:cNvSpPr txBox="1"/>
          <p:nvPr/>
        </p:nvSpPr>
        <p:spPr>
          <a:xfrm>
            <a:off x="18608040" y="5300547"/>
            <a:ext cx="29262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이미지 특징</a:t>
            </a:r>
            <a:endParaRPr/>
          </a:p>
        </p:txBody>
      </p:sp>
      <p:sp>
        <p:nvSpPr>
          <p:cNvPr id="160" name="Google Shape;160;p2"/>
          <p:cNvSpPr/>
          <p:nvPr/>
        </p:nvSpPr>
        <p:spPr>
          <a:xfrm>
            <a:off x="18544032" y="6345936"/>
            <a:ext cx="502920" cy="310896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"/>
          <p:cNvSpPr txBox="1"/>
          <p:nvPr/>
        </p:nvSpPr>
        <p:spPr>
          <a:xfrm>
            <a:off x="19202400" y="6281928"/>
            <a:ext cx="2103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중앙값 집계</a:t>
            </a:r>
            <a:endParaRPr/>
          </a:p>
        </p:txBody>
      </p:sp>
      <p:sp>
        <p:nvSpPr>
          <p:cNvPr id="162" name="Google Shape;162;p2"/>
          <p:cNvSpPr/>
          <p:nvPr/>
        </p:nvSpPr>
        <p:spPr>
          <a:xfrm>
            <a:off x="15590520" y="6903720"/>
            <a:ext cx="6382512" cy="13898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"/>
          <p:cNvSpPr txBox="1"/>
          <p:nvPr/>
        </p:nvSpPr>
        <p:spPr>
          <a:xfrm>
            <a:off x="15956280" y="7349420"/>
            <a:ext cx="28803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C73FF"/>
                </a:solidFill>
                <a:latin typeface="Arial"/>
                <a:ea typeface="Arial"/>
                <a:cs typeface="Arial"/>
                <a:sym typeface="Arial"/>
              </a:rPr>
              <a:t>27,345개</a:t>
            </a:r>
            <a:endParaRPr/>
          </a:p>
        </p:txBody>
      </p:sp>
      <p:sp>
        <p:nvSpPr>
          <p:cNvPr id="164" name="Google Shape;164;p2"/>
          <p:cNvSpPr txBox="1"/>
          <p:nvPr/>
        </p:nvSpPr>
        <p:spPr>
          <a:xfrm>
            <a:off x="18608040" y="7431716"/>
            <a:ext cx="29262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595959"/>
                </a:solidFill>
              </a:rPr>
              <a:t>       알약별 대표 벡터</a:t>
            </a:r>
            <a:endParaRPr/>
          </a:p>
        </p:txBody>
      </p:sp>
      <p:sp>
        <p:nvSpPr>
          <p:cNvPr id="165" name="Google Shape;165;p2"/>
          <p:cNvSpPr/>
          <p:nvPr/>
        </p:nvSpPr>
        <p:spPr>
          <a:xfrm>
            <a:off x="18544032" y="8449056"/>
            <a:ext cx="502920" cy="310896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"/>
          <p:cNvSpPr txBox="1"/>
          <p:nvPr/>
        </p:nvSpPr>
        <p:spPr>
          <a:xfrm>
            <a:off x="19202400" y="8385048"/>
            <a:ext cx="2103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중앙값 집계</a:t>
            </a:r>
            <a:endParaRPr/>
          </a:p>
        </p:txBody>
      </p:sp>
      <p:sp>
        <p:nvSpPr>
          <p:cNvPr id="167" name="Google Shape;167;p2"/>
          <p:cNvSpPr/>
          <p:nvPr/>
        </p:nvSpPr>
        <p:spPr>
          <a:xfrm>
            <a:off x="15590520" y="9006840"/>
            <a:ext cx="6382512" cy="13898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"/>
          <p:cNvSpPr txBox="1"/>
          <p:nvPr/>
        </p:nvSpPr>
        <p:spPr>
          <a:xfrm>
            <a:off x="15956280" y="9480589"/>
            <a:ext cx="28803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29개</a:t>
            </a:r>
            <a:endParaRPr/>
          </a:p>
        </p:txBody>
      </p:sp>
      <p:sp>
        <p:nvSpPr>
          <p:cNvPr id="169" name="Google Shape;169;p2"/>
          <p:cNvSpPr txBox="1"/>
          <p:nvPr/>
        </p:nvSpPr>
        <p:spPr>
          <a:xfrm>
            <a:off x="18608040" y="9562885"/>
            <a:ext cx="29262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595959"/>
                </a:solidFill>
              </a:rPr>
              <a:t>외</a:t>
            </a:r>
            <a:r>
              <a:rPr b="0" i="0" lang="en-US" sz="1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형</a:t>
            </a:r>
            <a:r>
              <a:rPr lang="en-US" sz="1900">
                <a:solidFill>
                  <a:srgbClr val="595959"/>
                </a:solidFill>
              </a:rPr>
              <a:t>별 대표 벡터</a:t>
            </a:r>
            <a:endParaRPr/>
          </a:p>
        </p:txBody>
      </p:sp>
      <p:sp>
        <p:nvSpPr>
          <p:cNvPr id="170" name="Google Shape;170;p2"/>
          <p:cNvSpPr/>
          <p:nvPr/>
        </p:nvSpPr>
        <p:spPr>
          <a:xfrm>
            <a:off x="1513335" y="11192275"/>
            <a:ext cx="21360300" cy="1005900"/>
          </a:xfrm>
          <a:prstGeom prst="roundRect">
            <a:avLst>
              <a:gd fmla="val 16667" name="adj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"/>
          <p:cNvSpPr txBox="1"/>
          <p:nvPr/>
        </p:nvSpPr>
        <p:spPr>
          <a:xfrm>
            <a:off x="1920240" y="11498328"/>
            <a:ext cx="205374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</a:rPr>
              <a:t>외</a:t>
            </a: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형</a:t>
            </a:r>
            <a:r>
              <a:rPr b="1" lang="en-US" sz="2100">
                <a:solidFill>
                  <a:srgbClr val="FFFFFF"/>
                </a:solidFill>
              </a:rPr>
              <a:t>과</a:t>
            </a: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품목별 대표 벡터를 함께 저장해 다양한 세부 형태를 검색에 반영</a:t>
            </a:r>
            <a:endParaRPr/>
          </a:p>
        </p:txBody>
      </p:sp>
      <p:sp>
        <p:nvSpPr>
          <p:cNvPr id="172" name="Google Shape;172;p2"/>
          <p:cNvSpPr/>
          <p:nvPr/>
        </p:nvSpPr>
        <p:spPr>
          <a:xfrm>
            <a:off x="1536192" y="896112"/>
            <a:ext cx="21689568" cy="786384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"/>
          <p:cNvSpPr txBox="1"/>
          <p:nvPr/>
        </p:nvSpPr>
        <p:spPr>
          <a:xfrm>
            <a:off x="2103120" y="1087198"/>
            <a:ext cx="64008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02. 형상 인덱스</a:t>
            </a:r>
            <a:endParaRPr/>
          </a:p>
        </p:txBody>
      </p:sp>
      <p:sp>
        <p:nvSpPr>
          <p:cNvPr id="174" name="Google Shape;174;p2"/>
          <p:cNvSpPr txBox="1"/>
          <p:nvPr/>
        </p:nvSpPr>
        <p:spPr>
          <a:xfrm>
            <a:off x="9829800" y="5519500"/>
            <a:ext cx="39834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595959"/>
                </a:solidFill>
              </a:rPr>
              <a:t>“얼마나 길쭉하고, 둥글고, 오목한가?”</a:t>
            </a:r>
            <a:endParaRPr/>
          </a:p>
        </p:txBody>
      </p:sp>
      <p:sp>
        <p:nvSpPr>
          <p:cNvPr id="175" name="Google Shape;175;p2"/>
          <p:cNvSpPr txBox="1"/>
          <p:nvPr/>
        </p:nvSpPr>
        <p:spPr>
          <a:xfrm>
            <a:off x="9829800" y="6872807"/>
            <a:ext cx="39834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595959"/>
                </a:solidFill>
              </a:rPr>
              <a:t>“외곽선이 구체적으로 어떻게 생겼는가?”</a:t>
            </a:r>
            <a:endParaRPr/>
          </a:p>
        </p:txBody>
      </p:sp>
      <p:sp>
        <p:nvSpPr>
          <p:cNvPr id="176" name="Google Shape;176;p2"/>
          <p:cNvSpPr txBox="1"/>
          <p:nvPr/>
        </p:nvSpPr>
        <p:spPr>
          <a:xfrm>
            <a:off x="9829800" y="8226117"/>
            <a:ext cx="39834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595959"/>
                </a:solidFill>
              </a:rPr>
              <a:t>“중심에서 외곽까지 거리가 방향에 따라 어떻게 변하는가?”</a:t>
            </a:r>
            <a:endParaRPr/>
          </a:p>
        </p:txBody>
      </p:sp>
      <p:sp>
        <p:nvSpPr>
          <p:cNvPr id="177" name="Google Shape;177;p2"/>
          <p:cNvSpPr txBox="1"/>
          <p:nvPr/>
        </p:nvSpPr>
        <p:spPr>
          <a:xfrm>
            <a:off x="9829800" y="9579425"/>
            <a:ext cx="39834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595959"/>
                </a:solidFill>
              </a:rPr>
              <a:t>“전체 도형의 면적이 중심 주변에 어떤 패턴으로 분포하는가?”</a:t>
            </a:r>
            <a:endParaRPr/>
          </a:p>
        </p:txBody>
      </p:sp>
      <p:sp>
        <p:nvSpPr>
          <p:cNvPr id="178" name="Google Shape;178;p2"/>
          <p:cNvSpPr txBox="1"/>
          <p:nvPr/>
        </p:nvSpPr>
        <p:spPr>
          <a:xfrm>
            <a:off x="16916400" y="1139952"/>
            <a:ext cx="57150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외형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유사도 검색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"/>
          <p:cNvSpPr/>
          <p:nvPr/>
        </p:nvSpPr>
        <p:spPr>
          <a:xfrm>
            <a:off x="0" y="0"/>
            <a:ext cx="24384304" cy="13716000"/>
          </a:xfrm>
          <a:prstGeom prst="rect">
            <a:avLst/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3"/>
          <p:cNvSpPr/>
          <p:nvPr/>
        </p:nvSpPr>
        <p:spPr>
          <a:xfrm>
            <a:off x="658368" y="-411480"/>
            <a:ext cx="23070312" cy="134599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3"/>
          <p:cNvSpPr/>
          <p:nvPr/>
        </p:nvSpPr>
        <p:spPr>
          <a:xfrm>
            <a:off x="1536192" y="896112"/>
            <a:ext cx="21689568" cy="786384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3"/>
          <p:cNvSpPr txBox="1"/>
          <p:nvPr/>
        </p:nvSpPr>
        <p:spPr>
          <a:xfrm>
            <a:off x="2103120" y="1087198"/>
            <a:ext cx="64008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03. 검색 결과</a:t>
            </a:r>
            <a:endParaRPr/>
          </a:p>
        </p:txBody>
      </p:sp>
      <p:sp>
        <p:nvSpPr>
          <p:cNvPr id="188" name="Google Shape;188;p3"/>
          <p:cNvSpPr txBox="1"/>
          <p:nvPr/>
        </p:nvSpPr>
        <p:spPr>
          <a:xfrm>
            <a:off x="1463040" y="2029968"/>
            <a:ext cx="214428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실제 이미지에서 확인한 </a:t>
            </a:r>
            <a:r>
              <a:rPr lang="en-US" sz="5800"/>
              <a:t>외</a:t>
            </a:r>
            <a:r>
              <a:rPr b="0" i="0" lang="en-US" sz="5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형 </a:t>
            </a:r>
            <a:r>
              <a:rPr b="0" i="0" lang="en-US" sz="5800" u="none" cap="none" strike="noStrike">
                <a:solidFill>
                  <a:srgbClr val="1C73FF"/>
                </a:solidFill>
                <a:latin typeface="Arial"/>
                <a:ea typeface="Arial"/>
                <a:cs typeface="Arial"/>
                <a:sym typeface="Arial"/>
              </a:rPr>
              <a:t>검색 결과</a:t>
            </a:r>
            <a:endParaRPr/>
          </a:p>
        </p:txBody>
      </p:sp>
      <p:sp>
        <p:nvSpPr>
          <p:cNvPr id="189" name="Google Shape;189;p3"/>
          <p:cNvSpPr txBox="1"/>
          <p:nvPr/>
        </p:nvSpPr>
        <p:spPr>
          <a:xfrm>
            <a:off x="2743200" y="2907792"/>
            <a:ext cx="189006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서로 다른 외곽 형태의 테스트 이미지에서 기록된 </a:t>
            </a:r>
            <a:r>
              <a:rPr lang="en-US" sz="2300">
                <a:solidFill>
                  <a:srgbClr val="595959"/>
                </a:solidFill>
              </a:rPr>
              <a:t>외</a:t>
            </a:r>
            <a:r>
              <a:rPr b="0" i="0" lang="en-US" sz="23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형이 검색 결과 1위로 나타났습니다.</a:t>
            </a:r>
            <a:endParaRPr/>
          </a:p>
        </p:txBody>
      </p:sp>
      <p:sp>
        <p:nvSpPr>
          <p:cNvPr id="190" name="Google Shape;190;p3"/>
          <p:cNvSpPr/>
          <p:nvPr/>
        </p:nvSpPr>
        <p:spPr>
          <a:xfrm>
            <a:off x="2834640" y="3547872"/>
            <a:ext cx="18717768" cy="658368"/>
          </a:xfrm>
          <a:prstGeom prst="roundRect">
            <a:avLst>
              <a:gd fmla="val 16667" name="adj"/>
            </a:avLst>
          </a:prstGeom>
          <a:solidFill>
            <a:srgbClr val="F4F7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3"/>
          <p:cNvSpPr txBox="1"/>
          <p:nvPr/>
        </p:nvSpPr>
        <p:spPr>
          <a:xfrm>
            <a:off x="3063240" y="3639312"/>
            <a:ext cx="182607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C73FF"/>
                </a:solidFill>
                <a:latin typeface="Arial"/>
                <a:ea typeface="Arial"/>
                <a:cs typeface="Arial"/>
                <a:sym typeface="Arial"/>
              </a:rPr>
              <a:t>새 이미지 입력  →  객체별 특징 추출  →  품목 프로토타입 거리 계산  →  </a:t>
            </a:r>
            <a:r>
              <a:rPr b="1" lang="en-US" sz="1800">
                <a:solidFill>
                  <a:srgbClr val="1C73FF"/>
                </a:solidFill>
              </a:rPr>
              <a:t>외</a:t>
            </a:r>
            <a:r>
              <a:rPr b="1" i="0" lang="en-US" sz="1800" u="none" cap="none" strike="noStrike">
                <a:solidFill>
                  <a:srgbClr val="1C73FF"/>
                </a:solidFill>
                <a:latin typeface="Arial"/>
                <a:ea typeface="Arial"/>
                <a:cs typeface="Arial"/>
                <a:sym typeface="Arial"/>
              </a:rPr>
              <a:t>형별 Top-k 순위</a:t>
            </a:r>
            <a:endParaRPr/>
          </a:p>
        </p:txBody>
      </p:sp>
      <p:sp>
        <p:nvSpPr>
          <p:cNvPr id="192" name="Google Shape;192;p3"/>
          <p:cNvSpPr/>
          <p:nvPr/>
        </p:nvSpPr>
        <p:spPr>
          <a:xfrm>
            <a:off x="1508760" y="4526280"/>
            <a:ext cx="6784848" cy="5852160"/>
          </a:xfrm>
          <a:prstGeom prst="roundRect">
            <a:avLst>
              <a:gd fmla="val 16667" name="adj"/>
            </a:avLst>
          </a:prstGeom>
          <a:solidFill>
            <a:srgbClr val="F4F7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3"/>
          <p:cNvSpPr/>
          <p:nvPr/>
        </p:nvSpPr>
        <p:spPr>
          <a:xfrm>
            <a:off x="1920240" y="4818888"/>
            <a:ext cx="5961888" cy="749808"/>
          </a:xfrm>
          <a:prstGeom prst="roundRect">
            <a:avLst>
              <a:gd fmla="val 16667" name="adj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2039112" y="4892040"/>
            <a:ext cx="5724144" cy="557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장방형</a:t>
            </a:r>
            <a:endParaRPr/>
          </a:p>
        </p:txBody>
      </p:sp>
      <p:sp>
        <p:nvSpPr>
          <p:cNvPr id="195" name="Google Shape;195;p3"/>
          <p:cNvSpPr/>
          <p:nvPr/>
        </p:nvSpPr>
        <p:spPr>
          <a:xfrm>
            <a:off x="1920240" y="5760720"/>
            <a:ext cx="5961888" cy="314553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ape_rectangular_bg.png" id="196" name="Google Shape;19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9580" y="5888736"/>
            <a:ext cx="4623206" cy="2889504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"/>
          <p:cNvSpPr/>
          <p:nvPr/>
        </p:nvSpPr>
        <p:spPr>
          <a:xfrm>
            <a:off x="2852928" y="9125712"/>
            <a:ext cx="4096512" cy="7132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C73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3"/>
          <p:cNvSpPr txBox="1"/>
          <p:nvPr/>
        </p:nvSpPr>
        <p:spPr>
          <a:xfrm>
            <a:off x="2944368" y="9198864"/>
            <a:ext cx="391363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C73FF"/>
                </a:solidFill>
                <a:latin typeface="Arial"/>
                <a:ea typeface="Arial"/>
                <a:cs typeface="Arial"/>
                <a:sym typeface="Arial"/>
              </a:rPr>
              <a:t>✓  Top-1 일치</a:t>
            </a:r>
            <a:endParaRPr/>
          </a:p>
        </p:txBody>
      </p:sp>
      <p:sp>
        <p:nvSpPr>
          <p:cNvPr id="199" name="Google Shape;199;p3"/>
          <p:cNvSpPr/>
          <p:nvPr/>
        </p:nvSpPr>
        <p:spPr>
          <a:xfrm>
            <a:off x="8796528" y="4526280"/>
            <a:ext cx="6784848" cy="5852160"/>
          </a:xfrm>
          <a:prstGeom prst="roundRect">
            <a:avLst>
              <a:gd fmla="val 16667" name="adj"/>
            </a:avLst>
          </a:prstGeom>
          <a:solidFill>
            <a:srgbClr val="F4F7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"/>
          <p:cNvSpPr/>
          <p:nvPr/>
        </p:nvSpPr>
        <p:spPr>
          <a:xfrm>
            <a:off x="9208007" y="4818888"/>
            <a:ext cx="5961888" cy="749808"/>
          </a:xfrm>
          <a:prstGeom prst="roundRect">
            <a:avLst>
              <a:gd fmla="val 16667" name="adj"/>
            </a:avLst>
          </a:prstGeom>
          <a:solidFill>
            <a:srgbClr val="50C4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"/>
          <p:cNvSpPr txBox="1"/>
          <p:nvPr/>
        </p:nvSpPr>
        <p:spPr>
          <a:xfrm>
            <a:off x="9326880" y="4892040"/>
            <a:ext cx="5724144" cy="557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사과형</a:t>
            </a:r>
            <a:endParaRPr/>
          </a:p>
        </p:txBody>
      </p:sp>
      <p:sp>
        <p:nvSpPr>
          <p:cNvPr id="202" name="Google Shape;202;p3"/>
          <p:cNvSpPr/>
          <p:nvPr/>
        </p:nvSpPr>
        <p:spPr>
          <a:xfrm>
            <a:off x="9208007" y="5760720"/>
            <a:ext cx="5961888" cy="314553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ape_apple_bg.png" id="203" name="Google Shape;20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77348" y="5888736"/>
            <a:ext cx="4623206" cy="2889504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"/>
          <p:cNvSpPr/>
          <p:nvPr/>
        </p:nvSpPr>
        <p:spPr>
          <a:xfrm>
            <a:off x="10140696" y="9125712"/>
            <a:ext cx="4096512" cy="7132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50C4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3"/>
          <p:cNvSpPr txBox="1"/>
          <p:nvPr/>
        </p:nvSpPr>
        <p:spPr>
          <a:xfrm>
            <a:off x="10232136" y="9198864"/>
            <a:ext cx="391363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50C4EE"/>
                </a:solidFill>
                <a:latin typeface="Arial"/>
                <a:ea typeface="Arial"/>
                <a:cs typeface="Arial"/>
                <a:sym typeface="Arial"/>
              </a:rPr>
              <a:t>✓  Top-1 일치</a:t>
            </a:r>
            <a:endParaRPr/>
          </a:p>
        </p:txBody>
      </p:sp>
      <p:sp>
        <p:nvSpPr>
          <p:cNvPr id="206" name="Google Shape;206;p3"/>
          <p:cNvSpPr/>
          <p:nvPr/>
        </p:nvSpPr>
        <p:spPr>
          <a:xfrm>
            <a:off x="16084296" y="4526280"/>
            <a:ext cx="6784848" cy="5852160"/>
          </a:xfrm>
          <a:prstGeom prst="roundRect">
            <a:avLst>
              <a:gd fmla="val 16667" name="adj"/>
            </a:avLst>
          </a:prstGeom>
          <a:solidFill>
            <a:srgbClr val="F4F7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"/>
          <p:cNvSpPr/>
          <p:nvPr/>
        </p:nvSpPr>
        <p:spPr>
          <a:xfrm>
            <a:off x="16495776" y="4818888"/>
            <a:ext cx="5961888" cy="749808"/>
          </a:xfrm>
          <a:prstGeom prst="roundRect">
            <a:avLst>
              <a:gd fmla="val 16667" name="adj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3"/>
          <p:cNvSpPr txBox="1"/>
          <p:nvPr/>
        </p:nvSpPr>
        <p:spPr>
          <a:xfrm>
            <a:off x="16614647" y="4892040"/>
            <a:ext cx="5724144" cy="557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땅콩형</a:t>
            </a:r>
            <a:endParaRPr/>
          </a:p>
        </p:txBody>
      </p:sp>
      <p:sp>
        <p:nvSpPr>
          <p:cNvPr id="209" name="Google Shape;209;p3"/>
          <p:cNvSpPr/>
          <p:nvPr/>
        </p:nvSpPr>
        <p:spPr>
          <a:xfrm>
            <a:off x="16495776" y="5760720"/>
            <a:ext cx="5961888" cy="314553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ape_peanut_bg.png" id="210" name="Google Shape;21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165116" y="5888736"/>
            <a:ext cx="4623206" cy="2889504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3"/>
          <p:cNvSpPr/>
          <p:nvPr/>
        </p:nvSpPr>
        <p:spPr>
          <a:xfrm>
            <a:off x="17428464" y="9125712"/>
            <a:ext cx="4096512" cy="7132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C73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3"/>
          <p:cNvSpPr txBox="1"/>
          <p:nvPr/>
        </p:nvSpPr>
        <p:spPr>
          <a:xfrm>
            <a:off x="17519904" y="9198864"/>
            <a:ext cx="391363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C73FF"/>
                </a:solidFill>
                <a:latin typeface="Arial"/>
                <a:ea typeface="Arial"/>
                <a:cs typeface="Arial"/>
                <a:sym typeface="Arial"/>
              </a:rPr>
              <a:t>✓  Top-1 일치</a:t>
            </a:r>
            <a:endParaRPr/>
          </a:p>
        </p:txBody>
      </p:sp>
      <p:sp>
        <p:nvSpPr>
          <p:cNvPr id="213" name="Google Shape;213;p3"/>
          <p:cNvSpPr/>
          <p:nvPr/>
        </p:nvSpPr>
        <p:spPr>
          <a:xfrm>
            <a:off x="1508760" y="10771632"/>
            <a:ext cx="6784848" cy="13898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C73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"/>
          <p:cNvSpPr/>
          <p:nvPr/>
        </p:nvSpPr>
        <p:spPr>
          <a:xfrm>
            <a:off x="1764792" y="11119104"/>
            <a:ext cx="694944" cy="694944"/>
          </a:xfrm>
          <a:prstGeom prst="ellipse">
            <a:avLst/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"/>
          <p:cNvSpPr txBox="1"/>
          <p:nvPr/>
        </p:nvSpPr>
        <p:spPr>
          <a:xfrm>
            <a:off x="1764792" y="11119104"/>
            <a:ext cx="69494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216" name="Google Shape;216;p3"/>
          <p:cNvSpPr txBox="1"/>
          <p:nvPr/>
        </p:nvSpPr>
        <p:spPr>
          <a:xfrm>
            <a:off x="2606039" y="10927080"/>
            <a:ext cx="537667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가장 가까운 품목까지의 거리</a:t>
            </a:r>
            <a:endParaRPr/>
          </a:p>
        </p:txBody>
      </p:sp>
      <p:sp>
        <p:nvSpPr>
          <p:cNvPr id="217" name="Google Shape;217;p3"/>
          <p:cNvSpPr/>
          <p:nvPr/>
        </p:nvSpPr>
        <p:spPr>
          <a:xfrm>
            <a:off x="8796528" y="10771632"/>
            <a:ext cx="6784848" cy="13898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C73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3"/>
          <p:cNvSpPr/>
          <p:nvPr/>
        </p:nvSpPr>
        <p:spPr>
          <a:xfrm>
            <a:off x="9052559" y="11119104"/>
            <a:ext cx="694944" cy="694944"/>
          </a:xfrm>
          <a:prstGeom prst="ellipse">
            <a:avLst/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"/>
          <p:cNvSpPr txBox="1"/>
          <p:nvPr/>
        </p:nvSpPr>
        <p:spPr>
          <a:xfrm>
            <a:off x="9052559" y="11119104"/>
            <a:ext cx="69494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220" name="Google Shape;220;p3"/>
          <p:cNvSpPr txBox="1"/>
          <p:nvPr/>
        </p:nvSpPr>
        <p:spPr>
          <a:xfrm>
            <a:off x="9893807" y="10927080"/>
            <a:ext cx="537667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1위와 2위 후보의 거리 차이</a:t>
            </a:r>
            <a:endParaRPr/>
          </a:p>
        </p:txBody>
      </p:sp>
      <p:sp>
        <p:nvSpPr>
          <p:cNvPr id="221" name="Google Shape;221;p3"/>
          <p:cNvSpPr/>
          <p:nvPr/>
        </p:nvSpPr>
        <p:spPr>
          <a:xfrm>
            <a:off x="16084296" y="10771632"/>
            <a:ext cx="6784848" cy="13898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C73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3"/>
          <p:cNvSpPr/>
          <p:nvPr/>
        </p:nvSpPr>
        <p:spPr>
          <a:xfrm>
            <a:off x="16340328" y="11119104"/>
            <a:ext cx="694944" cy="694944"/>
          </a:xfrm>
          <a:prstGeom prst="ellipse">
            <a:avLst/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"/>
          <p:cNvSpPr txBox="1"/>
          <p:nvPr/>
        </p:nvSpPr>
        <p:spPr>
          <a:xfrm>
            <a:off x="16340328" y="11119104"/>
            <a:ext cx="69494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224" name="Google Shape;224;p3"/>
          <p:cNvSpPr txBox="1"/>
          <p:nvPr/>
        </p:nvSpPr>
        <p:spPr>
          <a:xfrm>
            <a:off x="17181576" y="11277368"/>
            <a:ext cx="53766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외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형 중심 거리와 유사 품목</a:t>
            </a:r>
            <a:endParaRPr/>
          </a:p>
        </p:txBody>
      </p:sp>
      <p:sp>
        <p:nvSpPr>
          <p:cNvPr id="225" name="Google Shape;225;p3"/>
          <p:cNvSpPr txBox="1"/>
          <p:nvPr/>
        </p:nvSpPr>
        <p:spPr>
          <a:xfrm>
            <a:off x="16916400" y="1139952"/>
            <a:ext cx="57150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외형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유사도 검색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프로젝트 2팀</dc:creator>
</cp:coreProperties>
</file>