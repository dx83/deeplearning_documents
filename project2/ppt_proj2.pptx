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13716000" cx="2438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+vill8yt4GtzU5L9ZOcEqMto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4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3.xml"/><Relationship Id="rId21" Type="http://schemas.openxmlformats.org/officeDocument/2006/relationships/font" Target="fonts/Noto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NotoSans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937487b4b_0_16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f937487b4b_0_16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g3f937487b4b_0_16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3a90220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93a90220d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830cada31_0_2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g3f830cada31_0_2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830cada31_0_2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830cada31_0_2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g3f830cada31_0_2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830cada31_0_2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830cada31_0_3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f830cada31_0_3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f830cada31_0_3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937487b4b_0_7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g3f937487b4b_0_7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g3f937487b4b_0_7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937487b4b_0_10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2" name="Google Shape;552;g3f937487b4b_0_10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3" name="Google Shape;553;g3f937487b4b_0_10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937487b4b_0_13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5" name="Google Shape;585;g3f937487b4b_0_13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6" name="Google Shape;586;g3f937487b4b_0_13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937487b4b_0_36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937487b4b_0_36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f937487b4b_0_3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937487b4b_0_37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f937487b4b_0_37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g3f937487b4b_0_37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937487b4b_0_37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f937487b4b_0_3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937487b4b_0_3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f937487b4b_0_3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g3f937487b4b_0_3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937487b4b_0_3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f937487b4b_0_3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37487b4b_0_38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937487b4b_0_38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g3f937487b4b_0_3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f937487b4b_0_3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f937487b4b_0_3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37487b4b_0_3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f937487b4b_0_38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g3f937487b4b_0_38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4" name="Google Shape;114;g3f937487b4b_0_38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937487b4b_0_38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f937487b4b_0_38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937487b4b_0_3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937487b4b_0_396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f937487b4b_0_396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f937487b4b_0_396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g3f937487b4b_0_396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g3f937487b4b_0_39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937487b4b_0_39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f937487b4b_0_39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37487b4b_0_4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f937487b4b_0_40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f937487b4b_0_40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937487b4b_0_40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937487b4b_0_410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f937487b4b_0_410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g3f937487b4b_0_410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g3f937487b4b_0_4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937487b4b_0_4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f937487b4b_0_4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37487b4b_0_417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937487b4b_0_4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g3f937487b4b_0_417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g3f937487b4b_0_4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f937487b4b_0_4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f937487b4b_0_4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37487b4b_0_4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937487b4b_0_42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3f937487b4b_0_4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f937487b4b_0_4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f937487b4b_0_4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937487b4b_0_43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937487b4b_0_43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g3f937487b4b_0_4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f937487b4b_0_4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f937487b4b_0_4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937487b4b_0_3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g3f937487b4b_0_36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f937487b4b_0_36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g3f937487b4b_0_36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f937487b4b_0_36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37487b4b_0_166"/>
          <p:cNvSpPr/>
          <p:nvPr/>
        </p:nvSpPr>
        <p:spPr>
          <a:xfrm>
            <a:off x="0" y="0"/>
            <a:ext cx="8595600" cy="13716000"/>
          </a:xfrm>
          <a:prstGeom prst="rect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937487b4b_0_166"/>
          <p:cNvSpPr/>
          <p:nvPr/>
        </p:nvSpPr>
        <p:spPr>
          <a:xfrm>
            <a:off x="8595360" y="0"/>
            <a:ext cx="219600" cy="13716000"/>
          </a:xfrm>
          <a:prstGeom prst="rect">
            <a:avLst/>
          </a:prstGeom>
          <a:solidFill>
            <a:srgbClr val="1550C8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937487b4b_0_166"/>
          <p:cNvSpPr/>
          <p:nvPr/>
        </p:nvSpPr>
        <p:spPr>
          <a:xfrm rot="-1200030">
            <a:off x="1943531" y="3572260"/>
            <a:ext cx="4389109" cy="2103258"/>
          </a:xfrm>
          <a:prstGeom prst="roundRect">
            <a:avLst>
              <a:gd fmla="val 49565" name="adj"/>
            </a:avLst>
          </a:prstGeom>
          <a:solidFill>
            <a:srgbClr val="FFFFF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937487b4b_0_166"/>
          <p:cNvSpPr/>
          <p:nvPr/>
        </p:nvSpPr>
        <p:spPr>
          <a:xfrm rot="-1200030">
            <a:off x="1943534" y="3572268"/>
            <a:ext cx="2194554" cy="2103258"/>
          </a:xfrm>
          <a:prstGeom prst="roundRect">
            <a:avLst>
              <a:gd fmla="val 49565" name="adj"/>
            </a:avLst>
          </a:prstGeom>
          <a:solidFill>
            <a:srgbClr val="BBD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937487b4b_0_166"/>
          <p:cNvSpPr/>
          <p:nvPr/>
        </p:nvSpPr>
        <p:spPr>
          <a:xfrm rot="-1201126">
            <a:off x="4010070" y="2968706"/>
            <a:ext cx="164754" cy="2834400"/>
          </a:xfrm>
          <a:prstGeom prst="rect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937487b4b_0_166"/>
          <p:cNvSpPr/>
          <p:nvPr/>
        </p:nvSpPr>
        <p:spPr>
          <a:xfrm>
            <a:off x="2510420" y="6545982"/>
            <a:ext cx="6583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FF"/>
              </a:buClr>
              <a:buSzPts val="2600"/>
              <a:buFont typeface="Noto Sans"/>
              <a:buNone/>
            </a:pPr>
            <a:r>
              <a:rPr b="1" lang="en-US" sz="2600">
                <a:solidFill>
                  <a:srgbClr val="CFE0FF"/>
                </a:solidFill>
                <a:latin typeface="Noto Sans"/>
                <a:ea typeface="Noto Sans"/>
                <a:cs typeface="Noto Sans"/>
                <a:sym typeface="Noto Sans"/>
              </a:rPr>
              <a:t>PILL ID CHATBOT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937487b4b_0_166"/>
          <p:cNvSpPr/>
          <p:nvPr/>
        </p:nvSpPr>
        <p:spPr>
          <a:xfrm>
            <a:off x="10094976" y="4860942"/>
            <a:ext cx="1353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000"/>
              <a:buFont typeface="Noto Sans"/>
              <a:buNone/>
            </a:pPr>
            <a:r>
              <a:rPr b="1" lang="en-US" sz="30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2차 </a:t>
            </a:r>
            <a:r>
              <a:rPr b="1" lang="en-US" sz="30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프로젝트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937487b4b_0_166"/>
          <p:cNvSpPr/>
          <p:nvPr/>
        </p:nvSpPr>
        <p:spPr>
          <a:xfrm>
            <a:off x="9912096" y="5733826"/>
            <a:ext cx="1389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200"/>
              <a:buFont typeface="Noto Sans"/>
              <a:buNone/>
            </a:pPr>
            <a:r>
              <a:rPr b="1" lang="en-US" sz="92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937487b4b_0_166"/>
          <p:cNvSpPr/>
          <p:nvPr/>
        </p:nvSpPr>
        <p:spPr>
          <a:xfrm>
            <a:off x="9253728" y="6126480"/>
            <a:ext cx="13972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937487b4b_0_166"/>
          <p:cNvSpPr/>
          <p:nvPr/>
        </p:nvSpPr>
        <p:spPr>
          <a:xfrm>
            <a:off x="9692640" y="7589520"/>
            <a:ext cx="1316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f937487b4b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394" y="8535238"/>
            <a:ext cx="6812572" cy="45912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f937487b4b_0_166"/>
          <p:cNvSpPr txBox="1"/>
          <p:nvPr/>
        </p:nvSpPr>
        <p:spPr>
          <a:xfrm>
            <a:off x="9692640" y="11709794"/>
            <a:ext cx="13752600" cy="20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800" lIns="0" spcFirstLastPara="1" rIns="0" wrap="square" tIns="308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나병도     ㅣ       강순렬       ㅣ      김성태  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ㅣ       김지수       ㅣ      서성민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3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93a90220d_2_0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93a90220d_2_0"/>
          <p:cNvSpPr txBox="1"/>
          <p:nvPr/>
        </p:nvSpPr>
        <p:spPr>
          <a:xfrm>
            <a:off x="3822777" y="2384158"/>
            <a:ext cx="56199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92" u="none" cap="none" strike="noStrike">
                <a:solidFill>
                  <a:srgbClr val="0A3F9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 sz="3309">
              <a:solidFill>
                <a:srgbClr val="0A3F99"/>
              </a:solidFill>
            </a:endParaRPr>
          </a:p>
        </p:txBody>
      </p:sp>
      <p:sp>
        <p:nvSpPr>
          <p:cNvPr id="180" name="Google Shape;180;g3f93a90220d_2_0"/>
          <p:cNvSpPr/>
          <p:nvPr/>
        </p:nvSpPr>
        <p:spPr>
          <a:xfrm>
            <a:off x="3974078" y="5496593"/>
            <a:ext cx="4495800" cy="119100"/>
          </a:xfrm>
          <a:prstGeom prst="rect">
            <a:avLst/>
          </a:prstGeom>
          <a:gradFill>
            <a:gsLst>
              <a:gs pos="0">
                <a:srgbClr val="3478EC"/>
              </a:gs>
              <a:gs pos="80000">
                <a:srgbClr val="B9D1F8">
                  <a:alpha val="6196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93a90220d_2_0"/>
          <p:cNvSpPr/>
          <p:nvPr/>
        </p:nvSpPr>
        <p:spPr>
          <a:xfrm>
            <a:off x="11889325" y="676650"/>
            <a:ext cx="9747600" cy="1988400"/>
          </a:xfrm>
          <a:prstGeom prst="roundRect">
            <a:avLst>
              <a:gd fmla="val 10000" name="adj"/>
            </a:avLst>
          </a:prstGeom>
          <a:solidFill>
            <a:srgbClr val="F6F8FE"/>
          </a:solidFill>
          <a:ln cap="flat" cmpd="sng" w="30025">
            <a:solidFill>
              <a:srgbClr val="CEE0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70177" rotWithShape="0" algn="ctr" dir="5400000" dist="120078">
              <a:srgbClr val="7190BC">
                <a:alpha val="23920"/>
              </a:srgbClr>
            </a:outerShdw>
          </a:effectLst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93a90220d_2_0"/>
          <p:cNvSpPr txBox="1"/>
          <p:nvPr/>
        </p:nvSpPr>
        <p:spPr>
          <a:xfrm>
            <a:off x="14828844" y="1239036"/>
            <a:ext cx="6808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8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외양 분류</a:t>
            </a:r>
            <a:endParaRPr sz="3309"/>
          </a:p>
        </p:txBody>
      </p:sp>
      <p:sp>
        <p:nvSpPr>
          <p:cNvPr id="183" name="Google Shape;183;g3f93a90220d_2_0"/>
          <p:cNvSpPr/>
          <p:nvPr/>
        </p:nvSpPr>
        <p:spPr>
          <a:xfrm>
            <a:off x="11889325" y="2946128"/>
            <a:ext cx="9747600" cy="1988400"/>
          </a:xfrm>
          <a:prstGeom prst="roundRect">
            <a:avLst>
              <a:gd fmla="val 10000" name="adj"/>
            </a:avLst>
          </a:prstGeom>
          <a:solidFill>
            <a:srgbClr val="F6F8FE"/>
          </a:solidFill>
          <a:ln cap="flat" cmpd="sng" w="30025">
            <a:solidFill>
              <a:srgbClr val="CEE0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70177" rotWithShape="0" algn="ctr" dir="5400000" dist="120078">
              <a:srgbClr val="7190BC">
                <a:alpha val="23920"/>
              </a:srgbClr>
            </a:outerShdw>
          </a:effectLst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93a90220d_2_0"/>
          <p:cNvSpPr txBox="1"/>
          <p:nvPr/>
        </p:nvSpPr>
        <p:spPr>
          <a:xfrm>
            <a:off x="14828844" y="3549123"/>
            <a:ext cx="6808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8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각인 OCR</a:t>
            </a:r>
            <a:endParaRPr sz="3309"/>
          </a:p>
        </p:txBody>
      </p:sp>
      <p:sp>
        <p:nvSpPr>
          <p:cNvPr id="185" name="Google Shape;185;g3f93a90220d_2_0"/>
          <p:cNvSpPr/>
          <p:nvPr/>
        </p:nvSpPr>
        <p:spPr>
          <a:xfrm>
            <a:off x="11889325" y="5215605"/>
            <a:ext cx="9747600" cy="1988400"/>
          </a:xfrm>
          <a:prstGeom prst="roundRect">
            <a:avLst>
              <a:gd fmla="val 10000" name="adj"/>
            </a:avLst>
          </a:prstGeom>
          <a:solidFill>
            <a:srgbClr val="F6F8FE"/>
          </a:solidFill>
          <a:ln cap="flat" cmpd="sng" w="30025">
            <a:solidFill>
              <a:srgbClr val="CEE0F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70177" rotWithShape="0" algn="ctr" dir="5400000" dist="120078">
              <a:srgbClr val="7190BC">
                <a:alpha val="23920"/>
              </a:srgbClr>
            </a:outerShdw>
          </a:effectLst>
        </p:spPr>
        <p:txBody>
          <a:bodyPr anchorCtr="0" anchor="ctr" bIns="108025" lIns="216100" spcFirstLastPara="1" rIns="216100" wrap="square" tIns="108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93a90220d_2_0"/>
          <p:cNvSpPr txBox="1"/>
          <p:nvPr/>
        </p:nvSpPr>
        <p:spPr>
          <a:xfrm>
            <a:off x="14828844" y="5859232"/>
            <a:ext cx="68082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82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</a:t>
            </a:r>
            <a:r>
              <a:rPr b="1" i="0" lang="en-US" sz="5082" u="none" cap="none" strike="noStrike">
                <a:solidFill>
                  <a:srgbClr val="11111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기반 챗봇</a:t>
            </a:r>
            <a:endParaRPr sz="3309"/>
          </a:p>
        </p:txBody>
      </p:sp>
      <p:cxnSp>
        <p:nvCxnSpPr>
          <p:cNvPr id="187" name="Google Shape;187;g3f93a90220d_2_0"/>
          <p:cNvCxnSpPr/>
          <p:nvPr/>
        </p:nvCxnSpPr>
        <p:spPr>
          <a:xfrm flipH="1" rot="10800000">
            <a:off x="1773910" y="7819767"/>
            <a:ext cx="389400" cy="389400"/>
          </a:xfrm>
          <a:prstGeom prst="straightConnector1">
            <a:avLst/>
          </a:prstGeom>
          <a:noFill/>
          <a:ln cap="flat" cmpd="sng" w="60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1" id="188" name="Google Shape;188;g3f93a90220d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5525" y="861088"/>
            <a:ext cx="1619525" cy="16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93a90220d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05525" y="3130560"/>
            <a:ext cx="1619525" cy="16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f93a90220d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05525" y="5508802"/>
            <a:ext cx="1619525" cy="16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f93a90220d_2_0"/>
          <p:cNvSpPr txBox="1"/>
          <p:nvPr/>
        </p:nvSpPr>
        <p:spPr>
          <a:xfrm>
            <a:off x="12460688" y="1228550"/>
            <a:ext cx="1309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</a:rPr>
              <a:t>01</a:t>
            </a:r>
            <a:endParaRPr b="1" sz="5000">
              <a:solidFill>
                <a:schemeClr val="lt1"/>
              </a:solidFill>
            </a:endParaRPr>
          </a:p>
        </p:txBody>
      </p:sp>
      <p:sp>
        <p:nvSpPr>
          <p:cNvPr id="192" name="Google Shape;192;g3f93a90220d_2_0"/>
          <p:cNvSpPr txBox="1"/>
          <p:nvPr/>
        </p:nvSpPr>
        <p:spPr>
          <a:xfrm>
            <a:off x="12460688" y="3501547"/>
            <a:ext cx="1309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</a:rPr>
              <a:t>02</a:t>
            </a:r>
            <a:endParaRPr b="1" sz="5000">
              <a:solidFill>
                <a:schemeClr val="lt1"/>
              </a:solidFill>
            </a:endParaRPr>
          </a:p>
        </p:txBody>
      </p:sp>
      <p:sp>
        <p:nvSpPr>
          <p:cNvPr id="193" name="Google Shape;193;g3f93a90220d_2_0"/>
          <p:cNvSpPr txBox="1"/>
          <p:nvPr/>
        </p:nvSpPr>
        <p:spPr>
          <a:xfrm>
            <a:off x="12460688" y="5909912"/>
            <a:ext cx="13092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lt1"/>
                </a:solidFill>
              </a:rPr>
              <a:t>03</a:t>
            </a:r>
            <a:endParaRPr b="1" sz="5000">
              <a:solidFill>
                <a:schemeClr val="lt1"/>
              </a:solidFill>
            </a:endParaRPr>
          </a:p>
        </p:txBody>
      </p:sp>
      <p:sp>
        <p:nvSpPr>
          <p:cNvPr id="194" name="Google Shape;194;g3f93a90220d_2_0"/>
          <p:cNvSpPr/>
          <p:nvPr/>
        </p:nvSpPr>
        <p:spPr>
          <a:xfrm>
            <a:off x="1597350" y="8514748"/>
            <a:ext cx="21189300" cy="40761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76200">
            <a:solidFill>
              <a:srgbClr val="BFD8FB">
                <a:alpha val="9686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6128" rotWithShape="0" algn="ctr" dir="5400000" dist="102451">
              <a:srgbClr val="7195C8">
                <a:alpha val="21180"/>
              </a:srgbClr>
            </a:outerShdw>
          </a:effectLst>
        </p:spPr>
        <p:txBody>
          <a:bodyPr anchorCtr="0" anchor="ctr" bIns="92175" lIns="184400" spcFirstLastPara="1" rIns="184400" wrap="square" tIns="9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93a90220d_2_0"/>
          <p:cNvSpPr/>
          <p:nvPr/>
        </p:nvSpPr>
        <p:spPr>
          <a:xfrm>
            <a:off x="2611617" y="7954785"/>
            <a:ext cx="5808900" cy="1198500"/>
          </a:xfrm>
          <a:prstGeom prst="roundRect">
            <a:avLst>
              <a:gd fmla="val 12000" name="adj"/>
            </a:avLst>
          </a:prstGeom>
          <a:gradFill>
            <a:gsLst>
              <a:gs pos="0">
                <a:srgbClr val="347AE9"/>
              </a:gs>
              <a:gs pos="100000">
                <a:srgbClr val="1355C9"/>
              </a:gs>
            </a:gsLst>
            <a:lin ang="0" scaled="0"/>
          </a:gradFill>
          <a:ln>
            <a:noFill/>
          </a:ln>
          <a:effectLst>
            <a:outerShdw blurRad="204902" rotWithShape="0" algn="ctr" dir="5400000" dist="76838">
              <a:srgbClr val="2B5CB3">
                <a:alpha val="21960"/>
              </a:srgbClr>
            </a:outerShdw>
          </a:effectLst>
        </p:spPr>
        <p:txBody>
          <a:bodyPr anchorCtr="0" anchor="ctr" bIns="92175" lIns="184400" spcFirstLastPara="1" rIns="184400" wrap="square" tIns="9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93a90220d_2_0"/>
          <p:cNvSpPr txBox="1"/>
          <p:nvPr/>
        </p:nvSpPr>
        <p:spPr>
          <a:xfrm>
            <a:off x="4308209" y="8206492"/>
            <a:ext cx="359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36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목적</a:t>
            </a:r>
            <a:endParaRPr sz="2823"/>
          </a:p>
        </p:txBody>
      </p:sp>
      <p:sp>
        <p:nvSpPr>
          <p:cNvPr id="197" name="Google Shape;197;g3f93a90220d_2_0"/>
          <p:cNvSpPr/>
          <p:nvPr/>
        </p:nvSpPr>
        <p:spPr>
          <a:xfrm>
            <a:off x="3198212" y="8182950"/>
            <a:ext cx="715200" cy="715200"/>
          </a:xfrm>
          <a:prstGeom prst="ellipse">
            <a:avLst/>
          </a:prstGeom>
          <a:noFill/>
          <a:ln cap="flat" cmpd="sng" w="62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223575" spcFirstLastPara="1" rIns="223575" wrap="square" tIns="11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93a90220d_2_0"/>
          <p:cNvSpPr/>
          <p:nvPr/>
        </p:nvSpPr>
        <p:spPr>
          <a:xfrm>
            <a:off x="3343561" y="8328302"/>
            <a:ext cx="424800" cy="424800"/>
          </a:xfrm>
          <a:prstGeom prst="ellipse">
            <a:avLst/>
          </a:prstGeom>
          <a:noFill/>
          <a:ln cap="flat" cmpd="sng" w="5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223575" spcFirstLastPara="1" rIns="223575" wrap="square" tIns="11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93a90220d_2_0"/>
          <p:cNvSpPr/>
          <p:nvPr/>
        </p:nvSpPr>
        <p:spPr>
          <a:xfrm>
            <a:off x="3477728" y="8462473"/>
            <a:ext cx="156300" cy="156300"/>
          </a:xfrm>
          <a:prstGeom prst="ellipse">
            <a:avLst/>
          </a:prstGeom>
          <a:noFill/>
          <a:ln cap="flat" cmpd="sng" w="31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1750" lIns="223575" spcFirstLastPara="1" rIns="223575" wrap="square" tIns="11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0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g3f93a90220d_2_0"/>
          <p:cNvCxnSpPr/>
          <p:nvPr/>
        </p:nvCxnSpPr>
        <p:spPr>
          <a:xfrm flipH="1">
            <a:off x="3827682" y="8145739"/>
            <a:ext cx="123300" cy="17700"/>
          </a:xfrm>
          <a:prstGeom prst="straightConnector1">
            <a:avLst/>
          </a:prstGeom>
          <a:noFill/>
          <a:ln cap="flat" cmpd="sng" w="62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g3f93a90220d_2_0"/>
          <p:cNvCxnSpPr/>
          <p:nvPr/>
        </p:nvCxnSpPr>
        <p:spPr>
          <a:xfrm flipH="1">
            <a:off x="3933282" y="8145739"/>
            <a:ext cx="17700" cy="123300"/>
          </a:xfrm>
          <a:prstGeom prst="straightConnector1">
            <a:avLst/>
          </a:prstGeom>
          <a:noFill/>
          <a:ln cap="flat" cmpd="sng" w="621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g3f93a90220d_2_0"/>
          <p:cNvCxnSpPr/>
          <p:nvPr/>
        </p:nvCxnSpPr>
        <p:spPr>
          <a:xfrm flipH="1" rot="10800000">
            <a:off x="3585440" y="8182661"/>
            <a:ext cx="332100" cy="332100"/>
          </a:xfrm>
          <a:prstGeom prst="straightConnector1">
            <a:avLst/>
          </a:prstGeom>
          <a:noFill/>
          <a:ln cap="flat" cmpd="sng" w="51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g3f93a90220d_2_0"/>
          <p:cNvSpPr/>
          <p:nvPr/>
        </p:nvSpPr>
        <p:spPr>
          <a:xfrm>
            <a:off x="2985088" y="9592850"/>
            <a:ext cx="667500" cy="667500"/>
          </a:xfrm>
          <a:prstGeom prst="ellipse">
            <a:avLst/>
          </a:prstGeom>
          <a:gradFill>
            <a:gsLst>
              <a:gs pos="0">
                <a:srgbClr val="4B8AF4"/>
              </a:gs>
              <a:gs pos="100000">
                <a:srgbClr val="155BD2"/>
              </a:gs>
            </a:gsLst>
            <a:lin ang="2700006" scaled="0"/>
          </a:gradFill>
          <a:ln>
            <a:noFill/>
          </a:ln>
        </p:spPr>
        <p:txBody>
          <a:bodyPr anchorCtr="0" anchor="ctr" bIns="111250" lIns="222550" spcFirstLastPara="1" rIns="222550" wrap="square" tIns="11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g3f93a90220d_2_0"/>
          <p:cNvCxnSpPr/>
          <p:nvPr/>
        </p:nvCxnSpPr>
        <p:spPr>
          <a:xfrm>
            <a:off x="3152036" y="9915619"/>
            <a:ext cx="122700" cy="1227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g3f93a90220d_2_0"/>
          <p:cNvCxnSpPr/>
          <p:nvPr/>
        </p:nvCxnSpPr>
        <p:spPr>
          <a:xfrm flipH="1" rot="10800000">
            <a:off x="3271145" y="9781547"/>
            <a:ext cx="222600" cy="2565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g3f93a90220d_2_0"/>
          <p:cNvSpPr txBox="1"/>
          <p:nvPr/>
        </p:nvSpPr>
        <p:spPr>
          <a:xfrm>
            <a:off x="4070008" y="9674150"/>
            <a:ext cx="17328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3400">
                <a:solidFill>
                  <a:srgbClr val="595959"/>
                </a:solidFill>
              </a:rPr>
              <a:t>사용자가 알약 이미지를 업로드하거나 알약의 특징을 설명하면, 해당 알약을 식별해 주는 앱 개발</a:t>
            </a: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93a90220d_2_0"/>
          <p:cNvSpPr/>
          <p:nvPr/>
        </p:nvSpPr>
        <p:spPr>
          <a:xfrm>
            <a:off x="2993450" y="10512875"/>
            <a:ext cx="667500" cy="667500"/>
          </a:xfrm>
          <a:prstGeom prst="ellipse">
            <a:avLst/>
          </a:prstGeom>
          <a:gradFill>
            <a:gsLst>
              <a:gs pos="0">
                <a:srgbClr val="4B8AF4"/>
              </a:gs>
              <a:gs pos="100000">
                <a:srgbClr val="155BD2"/>
              </a:gs>
            </a:gsLst>
            <a:lin ang="2700006" scaled="0"/>
          </a:gradFill>
          <a:ln>
            <a:noFill/>
          </a:ln>
        </p:spPr>
        <p:txBody>
          <a:bodyPr anchorCtr="0" anchor="ctr" bIns="111250" lIns="222550" spcFirstLastPara="1" rIns="222550" wrap="square" tIns="11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93a90220d_2_0"/>
          <p:cNvSpPr txBox="1"/>
          <p:nvPr/>
        </p:nvSpPr>
        <p:spPr>
          <a:xfrm>
            <a:off x="4078383" y="11507008"/>
            <a:ext cx="17328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3400">
                <a:solidFill>
                  <a:srgbClr val="595959"/>
                </a:solidFill>
              </a:rPr>
              <a:t>향후 알약 정보의 확장과 사용자 중심의 간편한 챗봇 앱의 완성을 위한 다음 단계로 나아갈 것</a:t>
            </a: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93a90220d_2_0"/>
          <p:cNvSpPr/>
          <p:nvPr/>
        </p:nvSpPr>
        <p:spPr>
          <a:xfrm>
            <a:off x="2985088" y="11455054"/>
            <a:ext cx="667500" cy="667500"/>
          </a:xfrm>
          <a:prstGeom prst="ellipse">
            <a:avLst/>
          </a:prstGeom>
          <a:gradFill>
            <a:gsLst>
              <a:gs pos="0">
                <a:srgbClr val="4B8AF4"/>
              </a:gs>
              <a:gs pos="100000">
                <a:srgbClr val="155BD2"/>
              </a:gs>
            </a:gsLst>
            <a:lin ang="2700006" scaled="0"/>
          </a:gradFill>
          <a:ln>
            <a:noFill/>
          </a:ln>
        </p:spPr>
        <p:txBody>
          <a:bodyPr anchorCtr="0" anchor="ctr" bIns="111250" lIns="222550" spcFirstLastPara="1" rIns="222550" wrap="square" tIns="11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38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g3f93a90220d_2_0"/>
          <p:cNvCxnSpPr/>
          <p:nvPr/>
        </p:nvCxnSpPr>
        <p:spPr>
          <a:xfrm>
            <a:off x="3152036" y="11777822"/>
            <a:ext cx="122700" cy="1227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g3f93a90220d_2_0"/>
          <p:cNvCxnSpPr/>
          <p:nvPr/>
        </p:nvCxnSpPr>
        <p:spPr>
          <a:xfrm flipH="1" rot="10800000">
            <a:off x="3271145" y="11643751"/>
            <a:ext cx="222600" cy="2565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g3f93a90220d_2_0"/>
          <p:cNvCxnSpPr/>
          <p:nvPr/>
        </p:nvCxnSpPr>
        <p:spPr>
          <a:xfrm>
            <a:off x="3160398" y="10835644"/>
            <a:ext cx="122700" cy="1227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g3f93a90220d_2_0"/>
          <p:cNvCxnSpPr/>
          <p:nvPr/>
        </p:nvCxnSpPr>
        <p:spPr>
          <a:xfrm flipH="1" rot="10800000">
            <a:off x="3279508" y="10701572"/>
            <a:ext cx="222600" cy="256500"/>
          </a:xfrm>
          <a:prstGeom prst="straightConnector1">
            <a:avLst/>
          </a:prstGeom>
          <a:noFill/>
          <a:ln cap="flat" cmpd="sng" w="679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g3f93a90220d_2_0"/>
          <p:cNvSpPr txBox="1"/>
          <p:nvPr/>
        </p:nvSpPr>
        <p:spPr>
          <a:xfrm>
            <a:off x="4078371" y="10594175"/>
            <a:ext cx="17328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3400">
                <a:solidFill>
                  <a:srgbClr val="595959"/>
                </a:solidFill>
              </a:rPr>
              <a:t>이번 프로젝트에서는 식별 모델의 성능을 개선하고 이를 챗봇 앱으로 구현</a:t>
            </a:r>
            <a:r>
              <a:rPr b="0" i="0" lang="en-US" sz="3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2103120" y="1093060"/>
            <a:ext cx="6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형상 검색 구조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"/>
          <p:cNvSpPr txBox="1"/>
          <p:nvPr/>
        </p:nvSpPr>
        <p:spPr>
          <a:xfrm>
            <a:off x="1463040" y="1973870"/>
            <a:ext cx="214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lang="en-US" sz="6000">
                <a:solidFill>
                  <a:srgbClr val="1C73FF"/>
                </a:solidFill>
              </a:rPr>
              <a:t>외형 유사도 검색</a:t>
            </a:r>
            <a:endParaRPr b="1" i="0" sz="6000" u="none" cap="none" strike="noStrike">
              <a:solidFill>
                <a:srgbClr val="000000"/>
              </a:solidFill>
            </a:endParaRPr>
          </a:p>
        </p:txBody>
      </p:sp>
      <p:sp>
        <p:nvSpPr>
          <p:cNvPr id="225" name="Google Shape;225;p1"/>
          <p:cNvSpPr txBox="1"/>
          <p:nvPr/>
        </p:nvSpPr>
        <p:spPr>
          <a:xfrm>
            <a:off x="3657600" y="2974231"/>
            <a:ext cx="17071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알약의 외곽 윤곽을 수치화해 새 이미지와 형태가 가까운 외형을 찾습니다.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1508760" y="3794760"/>
            <a:ext cx="8732520" cy="70591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"/>
          <p:cNvSpPr txBox="1"/>
          <p:nvPr/>
        </p:nvSpPr>
        <p:spPr>
          <a:xfrm>
            <a:off x="1965960" y="4013599"/>
            <a:ext cx="3474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검색 과정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1938528" y="4709160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"/>
          <p:cNvSpPr/>
          <p:nvPr/>
        </p:nvSpPr>
        <p:spPr>
          <a:xfrm>
            <a:off x="2176272" y="4855464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"/>
          <p:cNvSpPr txBox="1"/>
          <p:nvPr/>
        </p:nvSpPr>
        <p:spPr>
          <a:xfrm>
            <a:off x="2176272" y="48554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2944368" y="4800600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이미지 입력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"/>
          <p:cNvSpPr/>
          <p:nvPr/>
        </p:nvSpPr>
        <p:spPr>
          <a:xfrm>
            <a:off x="5696712" y="5605272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1938528" y="5870448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2176272" y="6016752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"/>
          <p:cNvSpPr txBox="1"/>
          <p:nvPr/>
        </p:nvSpPr>
        <p:spPr>
          <a:xfrm>
            <a:off x="2176272" y="6016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 txBox="1"/>
          <p:nvPr/>
        </p:nvSpPr>
        <p:spPr>
          <a:xfrm>
            <a:off x="2944368" y="5961888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알약 영역 분리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5696712" y="6766560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1938528" y="7031736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2176272" y="7178040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"/>
          <p:cNvSpPr txBox="1"/>
          <p:nvPr/>
        </p:nvSpPr>
        <p:spPr>
          <a:xfrm>
            <a:off x="2176272" y="7178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 txBox="1"/>
          <p:nvPr/>
        </p:nvSpPr>
        <p:spPr>
          <a:xfrm>
            <a:off x="2944368" y="7123175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56차원 형상 임베딩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"/>
          <p:cNvSpPr/>
          <p:nvPr/>
        </p:nvSpPr>
        <p:spPr>
          <a:xfrm>
            <a:off x="5696712" y="7927848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"/>
          <p:cNvSpPr/>
          <p:nvPr/>
        </p:nvSpPr>
        <p:spPr>
          <a:xfrm>
            <a:off x="1938528" y="8193023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"/>
          <p:cNvSpPr/>
          <p:nvPr/>
        </p:nvSpPr>
        <p:spPr>
          <a:xfrm>
            <a:off x="2176272" y="8339327"/>
            <a:ext cx="548640" cy="54864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"/>
          <p:cNvSpPr txBox="1"/>
          <p:nvPr/>
        </p:nvSpPr>
        <p:spPr>
          <a:xfrm>
            <a:off x="2176272" y="8339327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"/>
          <p:cNvSpPr txBox="1"/>
          <p:nvPr/>
        </p:nvSpPr>
        <p:spPr>
          <a:xfrm>
            <a:off x="2944368" y="8379506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품목 대표 벡터와 거리 비교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5696712" y="9089136"/>
            <a:ext cx="438912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1938528" y="9354311"/>
            <a:ext cx="7882127" cy="84124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2176272" y="9500615"/>
            <a:ext cx="548640" cy="548640"/>
          </a:xfrm>
          <a:prstGeom prst="ellipse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"/>
          <p:cNvSpPr txBox="1"/>
          <p:nvPr/>
        </p:nvSpPr>
        <p:spPr>
          <a:xfrm>
            <a:off x="2176272" y="9500615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 txBox="1"/>
          <p:nvPr/>
        </p:nvSpPr>
        <p:spPr>
          <a:xfrm>
            <a:off x="2944368" y="9529898"/>
            <a:ext cx="6492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29개 클래스 중 Top-k 반환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10634472" y="3794760"/>
            <a:ext cx="12234672" cy="7059168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"/>
          <p:cNvSpPr txBox="1"/>
          <p:nvPr/>
        </p:nvSpPr>
        <p:spPr>
          <a:xfrm>
            <a:off x="11100816" y="4013599"/>
            <a:ext cx="4755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형상 추출 예시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11082528" y="4681728"/>
            <a:ext cx="11338560" cy="5349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extraction_process.png" id="255" name="Google Shape;2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3783" y="4828032"/>
            <a:ext cx="8936049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"/>
          <p:cNvSpPr txBox="1"/>
          <p:nvPr/>
        </p:nvSpPr>
        <p:spPr>
          <a:xfrm>
            <a:off x="13423392" y="10104120"/>
            <a:ext cx="65838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입력 이미지  →  외곽 윤곽 표현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1508760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"/>
          <p:cNvSpPr txBox="1"/>
          <p:nvPr/>
        </p:nvSpPr>
        <p:spPr>
          <a:xfrm>
            <a:off x="1664301" y="11474615"/>
            <a:ext cx="6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opencv를 이용한  윤곽 특징 계산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8741664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"/>
          <p:cNvSpPr txBox="1"/>
          <p:nvPr/>
        </p:nvSpPr>
        <p:spPr>
          <a:xfrm>
            <a:off x="8897206" y="11474615"/>
            <a:ext cx="6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데이터가 적은 제형들 포함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15974567" y="11201400"/>
            <a:ext cx="6903720" cy="9784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"/>
          <p:cNvSpPr txBox="1"/>
          <p:nvPr/>
        </p:nvSpPr>
        <p:spPr>
          <a:xfrm>
            <a:off x="16130109" y="11474615"/>
            <a:ext cx="6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회전·반전 영향을 줄여 형상 비교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/>
              <a:t>알약 외형 분류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"/>
          <p:cNvSpPr txBox="1"/>
          <p:nvPr/>
        </p:nvSpPr>
        <p:spPr>
          <a:xfrm>
            <a:off x="2103120" y="987552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형상 인덱스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"/>
          <p:cNvSpPr txBox="1"/>
          <p:nvPr/>
        </p:nvSpPr>
        <p:spPr>
          <a:xfrm>
            <a:off x="16916400" y="987552"/>
            <a:ext cx="5715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제형 유사도 검색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"/>
          <p:cNvSpPr txBox="1"/>
          <p:nvPr/>
        </p:nvSpPr>
        <p:spPr>
          <a:xfrm>
            <a:off x="1463040" y="1973870"/>
            <a:ext cx="214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</a:rPr>
              <a:t>56차원 특징에서 </a:t>
            </a:r>
            <a:r>
              <a:rPr b="1" i="0" lang="en-US" sz="6000" u="none" cap="none" strike="noStrike">
                <a:solidFill>
                  <a:srgbClr val="1C73FF"/>
                </a:solidFill>
              </a:rPr>
              <a:t>29개 클래스 인덱스</a:t>
            </a:r>
            <a:r>
              <a:rPr b="1" i="0" lang="en-US" sz="6000" u="none" cap="none" strike="noStrike">
                <a:solidFill>
                  <a:srgbClr val="000000"/>
                </a:solidFill>
              </a:rPr>
              <a:t>로</a:t>
            </a:r>
            <a:endParaRPr b="1" i="0" sz="6000" u="none" cap="none" strike="noStrike">
              <a:solidFill>
                <a:srgbClr val="000000"/>
              </a:solidFill>
            </a:endParaRPr>
          </a:p>
        </p:txBody>
      </p:sp>
      <p:sp>
        <p:nvSpPr>
          <p:cNvPr id="275" name="Google Shape;275;p2"/>
          <p:cNvSpPr txBox="1"/>
          <p:nvPr/>
        </p:nvSpPr>
        <p:spPr>
          <a:xfrm>
            <a:off x="2834640" y="2954129"/>
            <a:ext cx="18717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윤곽 특징을 결합하고 이미지 정보를 품목과 제형 단위의 대표 벡터로 집계했습니다.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1508760" y="3822191"/>
            <a:ext cx="12801600" cy="704088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"/>
          <p:cNvSpPr txBox="1"/>
          <p:nvPr/>
        </p:nvSpPr>
        <p:spPr>
          <a:xfrm>
            <a:off x="2011635" y="4144407"/>
            <a:ext cx="65838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56차원 형상 임베딩 구성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"/>
          <p:cNvSpPr txBox="1"/>
          <p:nvPr/>
        </p:nvSpPr>
        <p:spPr>
          <a:xfrm>
            <a:off x="1993392" y="5062298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기본 기하 특징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"/>
          <p:cNvSpPr txBox="1"/>
          <p:nvPr/>
        </p:nvSpPr>
        <p:spPr>
          <a:xfrm>
            <a:off x="4690872" y="5090347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"/>
          <p:cNvSpPr txBox="1"/>
          <p:nvPr/>
        </p:nvSpPr>
        <p:spPr>
          <a:xfrm>
            <a:off x="6172200" y="5090349"/>
            <a:ext cx="3147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비율 · 원형도 · 오목도 · 대칭도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"/>
          <p:cNvSpPr txBox="1"/>
          <p:nvPr/>
        </p:nvSpPr>
        <p:spPr>
          <a:xfrm>
            <a:off x="1993392" y="6387560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EFD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"/>
          <p:cNvSpPr txBox="1"/>
          <p:nvPr/>
        </p:nvSpPr>
        <p:spPr>
          <a:xfrm>
            <a:off x="4690872" y="6415609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24차원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"/>
          <p:cNvSpPr txBox="1"/>
          <p:nvPr/>
        </p:nvSpPr>
        <p:spPr>
          <a:xfrm>
            <a:off x="6172200" y="6415608"/>
            <a:ext cx="314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외곽선 좌표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"/>
          <p:cNvSpPr txBox="1"/>
          <p:nvPr/>
        </p:nvSpPr>
        <p:spPr>
          <a:xfrm>
            <a:off x="1993392" y="7740873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방사형 FFT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"/>
          <p:cNvSpPr txBox="1"/>
          <p:nvPr/>
        </p:nvSpPr>
        <p:spPr>
          <a:xfrm>
            <a:off x="4690872" y="7768922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16차원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"/>
          <p:cNvSpPr txBox="1"/>
          <p:nvPr/>
        </p:nvSpPr>
        <p:spPr>
          <a:xfrm>
            <a:off x="6172200" y="7768917"/>
            <a:ext cx="314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중심에서 외곽까지 거리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"/>
          <p:cNvSpPr txBox="1"/>
          <p:nvPr/>
        </p:nvSpPr>
        <p:spPr>
          <a:xfrm>
            <a:off x="1993392" y="9350834"/>
            <a:ext cx="2743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 moment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 txBox="1"/>
          <p:nvPr/>
        </p:nvSpPr>
        <p:spPr>
          <a:xfrm>
            <a:off x="4690872" y="9378883"/>
            <a:ext cx="1417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7차원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"/>
          <p:cNvSpPr txBox="1"/>
          <p:nvPr/>
        </p:nvSpPr>
        <p:spPr>
          <a:xfrm>
            <a:off x="6172200" y="9378875"/>
            <a:ext cx="3147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전체 면적 분포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/>
          <p:nvPr/>
        </p:nvSpPr>
        <p:spPr>
          <a:xfrm>
            <a:off x="14703551" y="3822191"/>
            <a:ext cx="8165592" cy="704088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"/>
          <p:cNvSpPr txBox="1"/>
          <p:nvPr/>
        </p:nvSpPr>
        <p:spPr>
          <a:xfrm>
            <a:off x="15160751" y="3984933"/>
            <a:ext cx="4755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인덱스 생성 과정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"/>
          <p:cNvSpPr/>
          <p:nvPr/>
        </p:nvSpPr>
        <p:spPr>
          <a:xfrm>
            <a:off x="15590520" y="480060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"/>
          <p:cNvSpPr txBox="1"/>
          <p:nvPr/>
        </p:nvSpPr>
        <p:spPr>
          <a:xfrm>
            <a:off x="15956280" y="5218251"/>
            <a:ext cx="2880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200" u="none" cap="none" strike="noStrike">
                <a:solidFill>
                  <a:srgbClr val="50C4EE"/>
                </a:solidFill>
                <a:latin typeface="Arial"/>
                <a:ea typeface="Arial"/>
                <a:cs typeface="Arial"/>
                <a:sym typeface="Arial"/>
              </a:rPr>
              <a:t>54,282장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"/>
          <p:cNvSpPr txBox="1"/>
          <p:nvPr/>
        </p:nvSpPr>
        <p:spPr>
          <a:xfrm>
            <a:off x="18608040" y="5224347"/>
            <a:ext cx="2926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이미지 특징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18544032" y="6402034"/>
            <a:ext cx="502800" cy="310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"/>
          <p:cNvSpPr txBox="1"/>
          <p:nvPr/>
        </p:nvSpPr>
        <p:spPr>
          <a:xfrm>
            <a:off x="19202400" y="6330079"/>
            <a:ext cx="2103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중앙값 집계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"/>
          <p:cNvSpPr/>
          <p:nvPr/>
        </p:nvSpPr>
        <p:spPr>
          <a:xfrm>
            <a:off x="15590520" y="690372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"/>
          <p:cNvSpPr txBox="1"/>
          <p:nvPr/>
        </p:nvSpPr>
        <p:spPr>
          <a:xfrm>
            <a:off x="15956280" y="7349420"/>
            <a:ext cx="2880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27,345개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"/>
          <p:cNvSpPr txBox="1"/>
          <p:nvPr/>
        </p:nvSpPr>
        <p:spPr>
          <a:xfrm>
            <a:off x="17732625" y="7355525"/>
            <a:ext cx="38016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     알약별 대표 벡터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"/>
          <p:cNvSpPr/>
          <p:nvPr/>
        </p:nvSpPr>
        <p:spPr>
          <a:xfrm>
            <a:off x="18544032" y="8505154"/>
            <a:ext cx="502800" cy="310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"/>
          <p:cNvSpPr txBox="1"/>
          <p:nvPr/>
        </p:nvSpPr>
        <p:spPr>
          <a:xfrm>
            <a:off x="19202400" y="8433199"/>
            <a:ext cx="2103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중앙값 집계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"/>
          <p:cNvSpPr/>
          <p:nvPr/>
        </p:nvSpPr>
        <p:spPr>
          <a:xfrm>
            <a:off x="15590520" y="9006840"/>
            <a:ext cx="6382512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"/>
          <p:cNvSpPr txBox="1"/>
          <p:nvPr/>
        </p:nvSpPr>
        <p:spPr>
          <a:xfrm>
            <a:off x="15956280" y="9480589"/>
            <a:ext cx="28803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29개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"/>
          <p:cNvSpPr txBox="1"/>
          <p:nvPr/>
        </p:nvSpPr>
        <p:spPr>
          <a:xfrm>
            <a:off x="18608040" y="9486685"/>
            <a:ext cx="2926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외형별 대표 벡터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"/>
          <p:cNvSpPr/>
          <p:nvPr/>
        </p:nvSpPr>
        <p:spPr>
          <a:xfrm>
            <a:off x="1513335" y="11192275"/>
            <a:ext cx="21360300" cy="10059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"/>
          <p:cNvSpPr txBox="1"/>
          <p:nvPr/>
        </p:nvSpPr>
        <p:spPr>
          <a:xfrm>
            <a:off x="1920240" y="11430075"/>
            <a:ext cx="2053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외형과 품목별 대표 벡터를 함께 저장해 다양한 세부 형태를 검색에 반영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"/>
          <p:cNvSpPr txBox="1"/>
          <p:nvPr/>
        </p:nvSpPr>
        <p:spPr>
          <a:xfrm>
            <a:off x="2103120" y="1087198"/>
            <a:ext cx="6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형상 인덱스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"/>
          <p:cNvSpPr txBox="1"/>
          <p:nvPr/>
        </p:nvSpPr>
        <p:spPr>
          <a:xfrm>
            <a:off x="9829800" y="5090349"/>
            <a:ext cx="3983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“얼마나 길쭉하고, 둥글고, 오목한가?”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"/>
          <p:cNvSpPr txBox="1"/>
          <p:nvPr/>
        </p:nvSpPr>
        <p:spPr>
          <a:xfrm>
            <a:off x="9829800" y="6415607"/>
            <a:ext cx="3983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“외곽선이 구체적으로 어떻게 생겼는가?”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"/>
          <p:cNvSpPr txBox="1"/>
          <p:nvPr/>
        </p:nvSpPr>
        <p:spPr>
          <a:xfrm>
            <a:off x="9829800" y="7768917"/>
            <a:ext cx="3983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“중심에서 외곽까지 거리가 방향에 따라 어떻게 변하는가?”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"/>
          <p:cNvSpPr txBox="1"/>
          <p:nvPr/>
        </p:nvSpPr>
        <p:spPr>
          <a:xfrm>
            <a:off x="9829800" y="9378874"/>
            <a:ext cx="39834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“전체 도형의 면적이 중심 주변에 어떤 패턴으로 분포하는가?”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/>
              <a:t>알약 외형 분류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/>
          <p:nvPr/>
        </p:nvSpPr>
        <p:spPr>
          <a:xfrm>
            <a:off x="0" y="0"/>
            <a:ext cx="24384304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"/>
          <p:cNvSpPr/>
          <p:nvPr/>
        </p:nvSpPr>
        <p:spPr>
          <a:xfrm>
            <a:off x="658368" y="-411480"/>
            <a:ext cx="23070312" cy="134599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"/>
          <p:cNvSpPr/>
          <p:nvPr/>
        </p:nvSpPr>
        <p:spPr>
          <a:xfrm>
            <a:off x="1536192" y="896112"/>
            <a:ext cx="21689568" cy="786384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"/>
          <p:cNvSpPr txBox="1"/>
          <p:nvPr/>
        </p:nvSpPr>
        <p:spPr>
          <a:xfrm>
            <a:off x="2103120" y="1087198"/>
            <a:ext cx="6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 검색 결과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"/>
          <p:cNvSpPr txBox="1"/>
          <p:nvPr/>
        </p:nvSpPr>
        <p:spPr>
          <a:xfrm>
            <a:off x="1463040" y="1973870"/>
            <a:ext cx="2144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</a:rPr>
              <a:t>실제 이미지에서 확인한 외형 </a:t>
            </a:r>
            <a:r>
              <a:rPr b="1" i="0" lang="en-US" sz="6000" u="none" cap="none" strike="noStrike">
                <a:solidFill>
                  <a:srgbClr val="1C73FF"/>
                </a:solidFill>
              </a:rPr>
              <a:t>검색 결과</a:t>
            </a:r>
            <a:endParaRPr b="1" i="0" sz="6000" u="none" cap="none" strike="noStrike">
              <a:solidFill>
                <a:srgbClr val="000000"/>
              </a:solidFill>
            </a:endParaRPr>
          </a:p>
        </p:txBody>
      </p:sp>
      <p:sp>
        <p:nvSpPr>
          <p:cNvPr id="324" name="Google Shape;324;p3"/>
          <p:cNvSpPr txBox="1"/>
          <p:nvPr/>
        </p:nvSpPr>
        <p:spPr>
          <a:xfrm>
            <a:off x="2743200" y="2907792"/>
            <a:ext cx="18900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서로 다른 외곽 형태의 테스트 이미지에서 기록된 외형이 검색 결과 1위로 나타났습니다.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"/>
          <p:cNvSpPr/>
          <p:nvPr/>
        </p:nvSpPr>
        <p:spPr>
          <a:xfrm>
            <a:off x="2834640" y="3624072"/>
            <a:ext cx="18717900" cy="6585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"/>
          <p:cNvSpPr txBox="1"/>
          <p:nvPr/>
        </p:nvSpPr>
        <p:spPr>
          <a:xfrm>
            <a:off x="3063240" y="3687463"/>
            <a:ext cx="182607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새 이미지 입력  →  객체별 특징 추출  →  품목 프로토타입 거리 계산  →  외형별 Top-k 순위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"/>
          <p:cNvSpPr/>
          <p:nvPr/>
        </p:nvSpPr>
        <p:spPr>
          <a:xfrm>
            <a:off x="1508760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"/>
          <p:cNvSpPr/>
          <p:nvPr/>
        </p:nvSpPr>
        <p:spPr>
          <a:xfrm>
            <a:off x="1920240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"/>
          <p:cNvSpPr txBox="1"/>
          <p:nvPr/>
        </p:nvSpPr>
        <p:spPr>
          <a:xfrm>
            <a:off x="2039112" y="4892040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장방형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"/>
          <p:cNvSpPr/>
          <p:nvPr/>
        </p:nvSpPr>
        <p:spPr>
          <a:xfrm>
            <a:off x="1920240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rectangular_bg.png" id="331" name="Google Shape;33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9580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"/>
          <p:cNvSpPr/>
          <p:nvPr/>
        </p:nvSpPr>
        <p:spPr>
          <a:xfrm>
            <a:off x="2852928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"/>
          <p:cNvSpPr txBox="1"/>
          <p:nvPr/>
        </p:nvSpPr>
        <p:spPr>
          <a:xfrm>
            <a:off x="2944368" y="9198864"/>
            <a:ext cx="39135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"/>
          <p:cNvSpPr/>
          <p:nvPr/>
        </p:nvSpPr>
        <p:spPr>
          <a:xfrm>
            <a:off x="8796528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"/>
          <p:cNvSpPr/>
          <p:nvPr/>
        </p:nvSpPr>
        <p:spPr>
          <a:xfrm>
            <a:off x="9208007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"/>
          <p:cNvSpPr txBox="1"/>
          <p:nvPr/>
        </p:nvSpPr>
        <p:spPr>
          <a:xfrm>
            <a:off x="9326880" y="4892040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사과형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"/>
          <p:cNvSpPr/>
          <p:nvPr/>
        </p:nvSpPr>
        <p:spPr>
          <a:xfrm>
            <a:off x="9208007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apple_bg.png" id="338" name="Google Shape;3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7348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"/>
          <p:cNvSpPr/>
          <p:nvPr/>
        </p:nvSpPr>
        <p:spPr>
          <a:xfrm>
            <a:off x="10140696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"/>
          <p:cNvSpPr txBox="1"/>
          <p:nvPr/>
        </p:nvSpPr>
        <p:spPr>
          <a:xfrm>
            <a:off x="10232136" y="9198864"/>
            <a:ext cx="39135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50C4EE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"/>
          <p:cNvSpPr/>
          <p:nvPr/>
        </p:nvSpPr>
        <p:spPr>
          <a:xfrm>
            <a:off x="16084296" y="4526280"/>
            <a:ext cx="6784848" cy="585216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"/>
          <p:cNvSpPr/>
          <p:nvPr/>
        </p:nvSpPr>
        <p:spPr>
          <a:xfrm>
            <a:off x="16495776" y="4818888"/>
            <a:ext cx="5961888" cy="749808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"/>
          <p:cNvSpPr txBox="1"/>
          <p:nvPr/>
        </p:nvSpPr>
        <p:spPr>
          <a:xfrm>
            <a:off x="16614647" y="4892040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땅콩형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"/>
          <p:cNvSpPr/>
          <p:nvPr/>
        </p:nvSpPr>
        <p:spPr>
          <a:xfrm>
            <a:off x="16495776" y="5760720"/>
            <a:ext cx="5961888" cy="314553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hape_peanut_bg.png" id="345" name="Google Shape;34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65116" y="5888736"/>
            <a:ext cx="4623206" cy="288950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"/>
          <p:cNvSpPr/>
          <p:nvPr/>
        </p:nvSpPr>
        <p:spPr>
          <a:xfrm>
            <a:off x="17428464" y="9125712"/>
            <a:ext cx="409651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"/>
          <p:cNvSpPr txBox="1"/>
          <p:nvPr/>
        </p:nvSpPr>
        <p:spPr>
          <a:xfrm>
            <a:off x="17519904" y="9198864"/>
            <a:ext cx="39135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32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✓  Top-1 일치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"/>
          <p:cNvSpPr/>
          <p:nvPr/>
        </p:nvSpPr>
        <p:spPr>
          <a:xfrm>
            <a:off x="1508760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"/>
          <p:cNvSpPr/>
          <p:nvPr/>
        </p:nvSpPr>
        <p:spPr>
          <a:xfrm>
            <a:off x="1764792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"/>
          <p:cNvSpPr txBox="1"/>
          <p:nvPr/>
        </p:nvSpPr>
        <p:spPr>
          <a:xfrm>
            <a:off x="1764792" y="11231300"/>
            <a:ext cx="694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"/>
          <p:cNvSpPr txBox="1"/>
          <p:nvPr/>
        </p:nvSpPr>
        <p:spPr>
          <a:xfrm>
            <a:off x="2606039" y="11235620"/>
            <a:ext cx="5376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가장 가까운 품목까지의 거리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/>
          <p:nvPr/>
        </p:nvSpPr>
        <p:spPr>
          <a:xfrm>
            <a:off x="8796528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9052559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"/>
          <p:cNvSpPr txBox="1"/>
          <p:nvPr/>
        </p:nvSpPr>
        <p:spPr>
          <a:xfrm>
            <a:off x="9052559" y="11231300"/>
            <a:ext cx="694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 txBox="1"/>
          <p:nvPr/>
        </p:nvSpPr>
        <p:spPr>
          <a:xfrm>
            <a:off x="9893807" y="11235620"/>
            <a:ext cx="5376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1위와 2위 후보의 거리 차이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16084296" y="10771632"/>
            <a:ext cx="6784848" cy="138988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16340328" y="11119104"/>
            <a:ext cx="694944" cy="694944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"/>
          <p:cNvSpPr txBox="1"/>
          <p:nvPr/>
        </p:nvSpPr>
        <p:spPr>
          <a:xfrm>
            <a:off x="16340328" y="11231300"/>
            <a:ext cx="694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 txBox="1"/>
          <p:nvPr/>
        </p:nvSpPr>
        <p:spPr>
          <a:xfrm>
            <a:off x="17181551" y="11214119"/>
            <a:ext cx="5376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외형 중심 거리와 유사 품목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/>
              <a:t>알약 외형 분류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30cada31_0_228"/>
          <p:cNvSpPr/>
          <p:nvPr/>
        </p:nvSpPr>
        <p:spPr>
          <a:xfrm>
            <a:off x="0" y="0"/>
            <a:ext cx="24384300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830cada31_0_228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f830cada31_0_228"/>
          <p:cNvSpPr/>
          <p:nvPr/>
        </p:nvSpPr>
        <p:spPr>
          <a:xfrm>
            <a:off x="1536192" y="896112"/>
            <a:ext cx="21689700" cy="7863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f830cada31_0_228"/>
          <p:cNvSpPr txBox="1"/>
          <p:nvPr/>
        </p:nvSpPr>
        <p:spPr>
          <a:xfrm>
            <a:off x="2103120" y="1111903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문제 정의</a:t>
            </a:r>
            <a:endParaRPr sz="2400"/>
          </a:p>
        </p:txBody>
      </p:sp>
      <p:sp>
        <p:nvSpPr>
          <p:cNvPr id="370" name="Google Shape;370;g3f830cada31_0_228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알약 각인 OCR</a:t>
            </a:r>
            <a:endParaRPr b="1" sz="3000"/>
          </a:p>
        </p:txBody>
      </p:sp>
      <p:sp>
        <p:nvSpPr>
          <p:cNvPr id="371" name="Google Shape;371;g3f830cada31_0_228"/>
          <p:cNvSpPr txBox="1"/>
          <p:nvPr/>
        </p:nvSpPr>
        <p:spPr>
          <a:xfrm>
            <a:off x="1371600" y="1919006"/>
            <a:ext cx="216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/>
              <a:t>순차 인식의 </a:t>
            </a:r>
            <a:r>
              <a:rPr b="1" lang="en-US" sz="6000">
                <a:solidFill>
                  <a:srgbClr val="1C73FF"/>
                </a:solidFill>
              </a:rPr>
              <a:t>한계</a:t>
            </a:r>
            <a:endParaRPr b="1" sz="6000">
              <a:solidFill>
                <a:srgbClr val="1C73FF"/>
              </a:solidFill>
            </a:endParaRPr>
          </a:p>
        </p:txBody>
      </p:sp>
      <p:sp>
        <p:nvSpPr>
          <p:cNvPr id="372" name="Google Shape;372;g3f830cada31_0_228"/>
          <p:cNvSpPr txBox="1"/>
          <p:nvPr/>
        </p:nvSpPr>
        <p:spPr>
          <a:xfrm>
            <a:off x="2468880" y="2907792"/>
            <a:ext cx="19449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알약 각인은 항상 한 줄로 읽히지 않는다.</a:t>
            </a:r>
            <a:endParaRPr sz="2800"/>
          </a:p>
        </p:txBody>
      </p:sp>
      <p:sp>
        <p:nvSpPr>
          <p:cNvPr id="373" name="Google Shape;373;g3f830cada31_0_228"/>
          <p:cNvSpPr/>
          <p:nvPr/>
        </p:nvSpPr>
        <p:spPr>
          <a:xfrm>
            <a:off x="1508760" y="3977639"/>
            <a:ext cx="6784800" cy="72696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830cada31_0_228"/>
          <p:cNvSpPr/>
          <p:nvPr/>
        </p:nvSpPr>
        <p:spPr>
          <a:xfrm>
            <a:off x="1920240" y="4270248"/>
            <a:ext cx="5961900" cy="7131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830cada31_0_228"/>
          <p:cNvSpPr txBox="1"/>
          <p:nvPr/>
        </p:nvSpPr>
        <p:spPr>
          <a:xfrm>
            <a:off x="2039112" y="4315351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2줄 각인</a:t>
            </a:r>
            <a:endParaRPr sz="4000"/>
          </a:p>
        </p:txBody>
      </p:sp>
      <p:sp>
        <p:nvSpPr>
          <p:cNvPr id="376" name="Google Shape;376;g3f830cada31_0_228"/>
          <p:cNvSpPr/>
          <p:nvPr/>
        </p:nvSpPr>
        <p:spPr>
          <a:xfrm>
            <a:off x="1956815" y="5230368"/>
            <a:ext cx="2761500" cy="221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0_bg.png" id="377" name="Google Shape;377;g3f830cada31_0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9967" y="5465064"/>
            <a:ext cx="2615184" cy="174345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f830cada31_0_228"/>
          <p:cNvSpPr/>
          <p:nvPr/>
        </p:nvSpPr>
        <p:spPr>
          <a:xfrm>
            <a:off x="5084064" y="5230368"/>
            <a:ext cx="2761500" cy="221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1_bg.png" id="379" name="Google Shape;379;g3f830cada31_0_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216" y="5465064"/>
            <a:ext cx="2615184" cy="174345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830cada31_0_228"/>
          <p:cNvSpPr/>
          <p:nvPr/>
        </p:nvSpPr>
        <p:spPr>
          <a:xfrm>
            <a:off x="2642615" y="8476488"/>
            <a:ext cx="45171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830cada31_0_228"/>
          <p:cNvSpPr txBox="1"/>
          <p:nvPr/>
        </p:nvSpPr>
        <p:spPr>
          <a:xfrm>
            <a:off x="2761488" y="8532549"/>
            <a:ext cx="427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행 구분 필요</a:t>
            </a:r>
            <a:endParaRPr sz="3000"/>
          </a:p>
        </p:txBody>
      </p:sp>
      <p:sp>
        <p:nvSpPr>
          <p:cNvPr id="382" name="Google Shape;382;g3f830cada31_0_228"/>
          <p:cNvSpPr txBox="1"/>
          <p:nvPr/>
        </p:nvSpPr>
        <p:spPr>
          <a:xfrm>
            <a:off x="2075688" y="9308592"/>
            <a:ext cx="56511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문자열을 한 줄로 펼치면</a:t>
            </a:r>
            <a:endParaRPr sz="28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읽기 순서가 모호해집니다.</a:t>
            </a:r>
            <a:endParaRPr sz="2800"/>
          </a:p>
        </p:txBody>
      </p:sp>
      <p:sp>
        <p:nvSpPr>
          <p:cNvPr id="383" name="Google Shape;383;g3f830cada31_0_228"/>
          <p:cNvSpPr/>
          <p:nvPr/>
        </p:nvSpPr>
        <p:spPr>
          <a:xfrm>
            <a:off x="8796528" y="3977639"/>
            <a:ext cx="6784800" cy="72696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830cada31_0_228"/>
          <p:cNvSpPr/>
          <p:nvPr/>
        </p:nvSpPr>
        <p:spPr>
          <a:xfrm>
            <a:off x="9208007" y="4270248"/>
            <a:ext cx="5961900" cy="7131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830cada31_0_228"/>
          <p:cNvSpPr txBox="1"/>
          <p:nvPr/>
        </p:nvSpPr>
        <p:spPr>
          <a:xfrm>
            <a:off x="9326880" y="4315351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알약을 가득 채운 각인</a:t>
            </a:r>
            <a:endParaRPr sz="4000"/>
          </a:p>
        </p:txBody>
      </p:sp>
      <p:sp>
        <p:nvSpPr>
          <p:cNvPr id="386" name="Google Shape;386;g3f830cada31_0_228"/>
          <p:cNvSpPr/>
          <p:nvPr/>
        </p:nvSpPr>
        <p:spPr>
          <a:xfrm>
            <a:off x="9244584" y="5230368"/>
            <a:ext cx="5888700" cy="299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2_bg.png" id="387" name="Google Shape;387;g3f830cada31_0_2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31551" y="5358384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f830cada31_0_228"/>
          <p:cNvSpPr/>
          <p:nvPr/>
        </p:nvSpPr>
        <p:spPr>
          <a:xfrm>
            <a:off x="9930384" y="8476488"/>
            <a:ext cx="45171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830cada31_0_228"/>
          <p:cNvSpPr txBox="1"/>
          <p:nvPr/>
        </p:nvSpPr>
        <p:spPr>
          <a:xfrm>
            <a:off x="10049255" y="8532549"/>
            <a:ext cx="427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C73FF"/>
                </a:solidFill>
              </a:rPr>
              <a:t> </a:t>
            </a: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문자 경계 약화</a:t>
            </a:r>
            <a:endParaRPr sz="3000"/>
          </a:p>
        </p:txBody>
      </p:sp>
      <p:sp>
        <p:nvSpPr>
          <p:cNvPr id="390" name="Google Shape;390;g3f830cada31_0_228"/>
          <p:cNvSpPr txBox="1"/>
          <p:nvPr/>
        </p:nvSpPr>
        <p:spPr>
          <a:xfrm>
            <a:off x="9363455" y="9308592"/>
            <a:ext cx="56511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여백이 부족하면 문자와 외곽을</a:t>
            </a:r>
            <a:endParaRPr sz="28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안정적으로 분리하기 어렵습니다.</a:t>
            </a:r>
            <a:endParaRPr sz="2800"/>
          </a:p>
        </p:txBody>
      </p:sp>
      <p:sp>
        <p:nvSpPr>
          <p:cNvPr id="391" name="Google Shape;391;g3f830cada31_0_228"/>
          <p:cNvSpPr/>
          <p:nvPr/>
        </p:nvSpPr>
        <p:spPr>
          <a:xfrm>
            <a:off x="16084296" y="3977639"/>
            <a:ext cx="6784800" cy="72696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830cada31_0_228"/>
          <p:cNvSpPr/>
          <p:nvPr/>
        </p:nvSpPr>
        <p:spPr>
          <a:xfrm>
            <a:off x="16495776" y="4270248"/>
            <a:ext cx="5961900" cy="7131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f830cada31_0_228"/>
          <p:cNvSpPr txBox="1"/>
          <p:nvPr/>
        </p:nvSpPr>
        <p:spPr>
          <a:xfrm>
            <a:off x="16614647" y="4315351"/>
            <a:ext cx="5724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숫자·알파벳 혼동</a:t>
            </a:r>
            <a:endParaRPr sz="4000"/>
          </a:p>
        </p:txBody>
      </p:sp>
      <p:sp>
        <p:nvSpPr>
          <p:cNvPr id="394" name="Google Shape;394;g3f830cada31_0_228"/>
          <p:cNvSpPr/>
          <p:nvPr/>
        </p:nvSpPr>
        <p:spPr>
          <a:xfrm>
            <a:off x="16532351" y="5230368"/>
            <a:ext cx="5888700" cy="299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cr_3_bg.png" id="395" name="Google Shape;395;g3f830cada31_0_2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19320" y="5358384"/>
            <a:ext cx="41148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f830cada31_0_228"/>
          <p:cNvSpPr/>
          <p:nvPr/>
        </p:nvSpPr>
        <p:spPr>
          <a:xfrm>
            <a:off x="17218152" y="8476488"/>
            <a:ext cx="45171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830cada31_0_228"/>
          <p:cNvSpPr txBox="1"/>
          <p:nvPr/>
        </p:nvSpPr>
        <p:spPr>
          <a:xfrm>
            <a:off x="17337024" y="8532549"/>
            <a:ext cx="4279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C73FF"/>
                </a:solidFill>
              </a:rPr>
              <a:t>4</a:t>
            </a: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en-US" sz="3000">
                <a:solidFill>
                  <a:srgbClr val="1C73FF"/>
                </a:solidFill>
              </a:rPr>
              <a:t>A</a:t>
            </a: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  /  </a:t>
            </a:r>
            <a:r>
              <a:rPr b="1" lang="en-US" sz="3000">
                <a:solidFill>
                  <a:srgbClr val="1C73FF"/>
                </a:solidFill>
              </a:rPr>
              <a:t>G</a:t>
            </a:r>
            <a:r>
              <a:rPr b="1" i="0" lang="en-US" sz="30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 ↔ </a:t>
            </a:r>
            <a:r>
              <a:rPr b="1" lang="en-US" sz="3000">
                <a:solidFill>
                  <a:srgbClr val="1C73FF"/>
                </a:solidFill>
              </a:rPr>
              <a:t>6</a:t>
            </a:r>
            <a:endParaRPr sz="3000"/>
          </a:p>
        </p:txBody>
      </p:sp>
      <p:sp>
        <p:nvSpPr>
          <p:cNvPr id="398" name="Google Shape;398;g3f830cada31_0_228"/>
          <p:cNvSpPr txBox="1"/>
          <p:nvPr/>
        </p:nvSpPr>
        <p:spPr>
          <a:xfrm>
            <a:off x="16651224" y="9308592"/>
            <a:ext cx="56511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형태가 비슷한 문자는 주변 문맥이</a:t>
            </a:r>
            <a:endParaRPr sz="28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부족할 때 혼동되기 쉽습니다.</a:t>
            </a:r>
            <a:endParaRPr sz="2800"/>
          </a:p>
        </p:txBody>
      </p:sp>
      <p:sp>
        <p:nvSpPr>
          <p:cNvPr id="399" name="Google Shape;399;g3f830cada31_0_228"/>
          <p:cNvSpPr/>
          <p:nvPr/>
        </p:nvSpPr>
        <p:spPr>
          <a:xfrm>
            <a:off x="1508760" y="11503152"/>
            <a:ext cx="21360300" cy="841200"/>
          </a:xfrm>
          <a:prstGeom prst="roundRect">
            <a:avLst>
              <a:gd fmla="val 16667" name="adj"/>
            </a:avLst>
          </a:prstGeom>
          <a:solidFill>
            <a:srgbClr val="122C5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830cada31_0_228"/>
          <p:cNvSpPr txBox="1"/>
          <p:nvPr/>
        </p:nvSpPr>
        <p:spPr>
          <a:xfrm>
            <a:off x="1920240" y="11661648"/>
            <a:ext cx="2053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한 줄 시퀀스 가정만으로는 알약 각인의 2차원 배치와 전역 문맥을 충분히 표현하기 어렵습니다.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30cada31_0_267"/>
          <p:cNvSpPr/>
          <p:nvPr/>
        </p:nvSpPr>
        <p:spPr>
          <a:xfrm>
            <a:off x="0" y="0"/>
            <a:ext cx="24384300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f830cada31_0_267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830cada31_0_267"/>
          <p:cNvSpPr txBox="1"/>
          <p:nvPr/>
        </p:nvSpPr>
        <p:spPr>
          <a:xfrm>
            <a:off x="1371600" y="1975104"/>
            <a:ext cx="216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/>
              <a:t>순차 인식과 </a:t>
            </a:r>
            <a:r>
              <a:rPr b="1" lang="en-US" sz="6000">
                <a:solidFill>
                  <a:srgbClr val="1C73FF"/>
                </a:solidFill>
              </a:rPr>
              <a:t>2차원 전역 문맥 인식</a:t>
            </a:r>
            <a:r>
              <a:rPr b="1" lang="en-US" sz="6000"/>
              <a:t>의 차이</a:t>
            </a:r>
            <a:endParaRPr b="1" sz="6000"/>
          </a:p>
        </p:txBody>
      </p:sp>
      <p:sp>
        <p:nvSpPr>
          <p:cNvPr id="409" name="Google Shape;409;g3f830cada31_0_267"/>
          <p:cNvSpPr txBox="1"/>
          <p:nvPr/>
        </p:nvSpPr>
        <p:spPr>
          <a:xfrm>
            <a:off x="2468880" y="2963890"/>
            <a:ext cx="19449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CRNN =&gt; CNN + Transformer</a:t>
            </a:r>
            <a:endParaRPr sz="2800"/>
          </a:p>
        </p:txBody>
      </p:sp>
      <p:sp>
        <p:nvSpPr>
          <p:cNvPr id="410" name="Google Shape;410;g3f830cada31_0_267"/>
          <p:cNvSpPr/>
          <p:nvPr/>
        </p:nvSpPr>
        <p:spPr>
          <a:xfrm>
            <a:off x="1508760" y="3968496"/>
            <a:ext cx="3657600" cy="868800"/>
          </a:xfrm>
          <a:prstGeom prst="rect">
            <a:avLst/>
          </a:prstGeom>
          <a:solidFill>
            <a:srgbClr val="122C5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830cada31_0_267"/>
          <p:cNvSpPr txBox="1"/>
          <p:nvPr/>
        </p:nvSpPr>
        <p:spPr>
          <a:xfrm>
            <a:off x="1673351" y="4117848"/>
            <a:ext cx="33285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비교 항목</a:t>
            </a:r>
            <a:endParaRPr sz="4000"/>
          </a:p>
        </p:txBody>
      </p:sp>
      <p:sp>
        <p:nvSpPr>
          <p:cNvPr id="412" name="Google Shape;412;g3f830cada31_0_267"/>
          <p:cNvSpPr/>
          <p:nvPr/>
        </p:nvSpPr>
        <p:spPr>
          <a:xfrm>
            <a:off x="5166360" y="3968496"/>
            <a:ext cx="8412600" cy="868800"/>
          </a:xfrm>
          <a:prstGeom prst="rect">
            <a:avLst/>
          </a:prstGeom>
          <a:solidFill>
            <a:srgbClr val="98A2B3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30cada31_0_267"/>
          <p:cNvSpPr txBox="1"/>
          <p:nvPr/>
        </p:nvSpPr>
        <p:spPr>
          <a:xfrm>
            <a:off x="5330952" y="4117848"/>
            <a:ext cx="8083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CRNN</a:t>
            </a:r>
            <a:endParaRPr sz="4000"/>
          </a:p>
        </p:txBody>
      </p:sp>
      <p:sp>
        <p:nvSpPr>
          <p:cNvPr id="414" name="Google Shape;414;g3f830cada31_0_267"/>
          <p:cNvSpPr/>
          <p:nvPr/>
        </p:nvSpPr>
        <p:spPr>
          <a:xfrm>
            <a:off x="13578840" y="3968496"/>
            <a:ext cx="9290400" cy="8688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830cada31_0_267"/>
          <p:cNvSpPr txBox="1"/>
          <p:nvPr/>
        </p:nvSpPr>
        <p:spPr>
          <a:xfrm>
            <a:off x="13743432" y="4117848"/>
            <a:ext cx="8961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 + Transforme</a:t>
            </a:r>
            <a:r>
              <a:rPr b="1" lang="en-US" sz="4000">
                <a:solidFill>
                  <a:srgbClr val="FFFFFF"/>
                </a:solidFill>
              </a:rPr>
              <a:t>r</a:t>
            </a:r>
            <a:endParaRPr sz="4000"/>
          </a:p>
        </p:txBody>
      </p:sp>
      <p:sp>
        <p:nvSpPr>
          <p:cNvPr id="416" name="Google Shape;416;g3f830cada31_0_267"/>
          <p:cNvSpPr/>
          <p:nvPr/>
        </p:nvSpPr>
        <p:spPr>
          <a:xfrm>
            <a:off x="1508760" y="4837176"/>
            <a:ext cx="3657600" cy="1481400"/>
          </a:xfrm>
          <a:prstGeom prst="rect">
            <a:avLst/>
          </a:prstGeom>
          <a:solidFill>
            <a:srgbClr val="E9F2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830cada31_0_267"/>
          <p:cNvSpPr txBox="1"/>
          <p:nvPr/>
        </p:nvSpPr>
        <p:spPr>
          <a:xfrm>
            <a:off x="1673351" y="5291328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주요 강점</a:t>
            </a:r>
            <a:endParaRPr sz="3200"/>
          </a:p>
        </p:txBody>
      </p:sp>
      <p:sp>
        <p:nvSpPr>
          <p:cNvPr id="418" name="Google Shape;418;g3f830cada31_0_267"/>
          <p:cNvSpPr/>
          <p:nvPr/>
        </p:nvSpPr>
        <p:spPr>
          <a:xfrm>
            <a:off x="5166360" y="4837176"/>
            <a:ext cx="84126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30cada31_0_267"/>
          <p:cNvSpPr txBox="1"/>
          <p:nvPr/>
        </p:nvSpPr>
        <p:spPr>
          <a:xfrm>
            <a:off x="5330952" y="5090777"/>
            <a:ext cx="8083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규칙적인 한 줄 텍스트를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효율적으로 인식</a:t>
            </a:r>
            <a:endParaRPr sz="3200"/>
          </a:p>
        </p:txBody>
      </p:sp>
      <p:sp>
        <p:nvSpPr>
          <p:cNvPr id="420" name="Google Shape;420;g3f830cada31_0_267"/>
          <p:cNvSpPr/>
          <p:nvPr/>
        </p:nvSpPr>
        <p:spPr>
          <a:xfrm>
            <a:off x="13578840" y="4837176"/>
            <a:ext cx="92904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830cada31_0_267"/>
          <p:cNvSpPr txBox="1"/>
          <p:nvPr/>
        </p:nvSpPr>
        <p:spPr>
          <a:xfrm>
            <a:off x="13743432" y="5090777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각인 영역 전체의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전역 문맥 파악</a:t>
            </a:r>
            <a:endParaRPr sz="3200"/>
          </a:p>
        </p:txBody>
      </p:sp>
      <p:sp>
        <p:nvSpPr>
          <p:cNvPr id="422" name="Google Shape;422;g3f830cada31_0_267"/>
          <p:cNvSpPr/>
          <p:nvPr/>
        </p:nvSpPr>
        <p:spPr>
          <a:xfrm>
            <a:off x="1508760" y="6318504"/>
            <a:ext cx="3657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830cada31_0_267"/>
          <p:cNvSpPr txBox="1"/>
          <p:nvPr/>
        </p:nvSpPr>
        <p:spPr>
          <a:xfrm>
            <a:off x="1673351" y="6772656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공간 정보 처리</a:t>
            </a:r>
            <a:endParaRPr sz="3200"/>
          </a:p>
        </p:txBody>
      </p:sp>
      <p:sp>
        <p:nvSpPr>
          <p:cNvPr id="424" name="Google Shape;424;g3f830cada31_0_267"/>
          <p:cNvSpPr/>
          <p:nvPr/>
        </p:nvSpPr>
        <p:spPr>
          <a:xfrm>
            <a:off x="5166360" y="6318504"/>
            <a:ext cx="8412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830cada31_0_267"/>
          <p:cNvSpPr txBox="1"/>
          <p:nvPr/>
        </p:nvSpPr>
        <p:spPr>
          <a:xfrm>
            <a:off x="5330952" y="6572105"/>
            <a:ext cx="8083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특징 맵을 1차원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시퀀스로 변환</a:t>
            </a:r>
            <a:endParaRPr sz="3200"/>
          </a:p>
        </p:txBody>
      </p:sp>
      <p:sp>
        <p:nvSpPr>
          <p:cNvPr id="426" name="Google Shape;426;g3f830cada31_0_267"/>
          <p:cNvSpPr/>
          <p:nvPr/>
        </p:nvSpPr>
        <p:spPr>
          <a:xfrm>
            <a:off x="13578840" y="6318504"/>
            <a:ext cx="92904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830cada31_0_267"/>
          <p:cNvSpPr txBox="1"/>
          <p:nvPr/>
        </p:nvSpPr>
        <p:spPr>
          <a:xfrm>
            <a:off x="13743432" y="6572105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2D 위치 인코딩으로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행과 열 정보 유지</a:t>
            </a:r>
            <a:endParaRPr sz="3200"/>
          </a:p>
        </p:txBody>
      </p:sp>
      <p:sp>
        <p:nvSpPr>
          <p:cNvPr id="428" name="Google Shape;428;g3f830cada31_0_267"/>
          <p:cNvSpPr/>
          <p:nvPr/>
        </p:nvSpPr>
        <p:spPr>
          <a:xfrm>
            <a:off x="1508760" y="7799832"/>
            <a:ext cx="3657600" cy="1481400"/>
          </a:xfrm>
          <a:prstGeom prst="rect">
            <a:avLst/>
          </a:prstGeom>
          <a:solidFill>
            <a:srgbClr val="E9F2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830cada31_0_267"/>
          <p:cNvSpPr txBox="1"/>
          <p:nvPr/>
        </p:nvSpPr>
        <p:spPr>
          <a:xfrm>
            <a:off x="1673351" y="8253984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어려운 배치</a:t>
            </a:r>
            <a:endParaRPr sz="3200"/>
          </a:p>
        </p:txBody>
      </p:sp>
      <p:sp>
        <p:nvSpPr>
          <p:cNvPr id="430" name="Google Shape;430;g3f830cada31_0_267"/>
          <p:cNvSpPr/>
          <p:nvPr/>
        </p:nvSpPr>
        <p:spPr>
          <a:xfrm>
            <a:off x="5166360" y="7799832"/>
            <a:ext cx="84126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f830cada31_0_267"/>
          <p:cNvSpPr txBox="1"/>
          <p:nvPr/>
        </p:nvSpPr>
        <p:spPr>
          <a:xfrm>
            <a:off x="5330952" y="8053433"/>
            <a:ext cx="80832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문자 간격이 넓거나 정렬이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불규칙하면 대응이 제한적</a:t>
            </a:r>
            <a:endParaRPr sz="3200"/>
          </a:p>
        </p:txBody>
      </p:sp>
      <p:sp>
        <p:nvSpPr>
          <p:cNvPr id="432" name="Google Shape;432;g3f830cada31_0_267"/>
          <p:cNvSpPr/>
          <p:nvPr/>
        </p:nvSpPr>
        <p:spPr>
          <a:xfrm>
            <a:off x="13578840" y="7799832"/>
            <a:ext cx="9290400" cy="148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830cada31_0_267"/>
          <p:cNvSpPr txBox="1"/>
          <p:nvPr/>
        </p:nvSpPr>
        <p:spPr>
          <a:xfrm>
            <a:off x="13743432" y="8053433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어텐션으로 멀리 떨어지거나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불규칙한 문자를 연결</a:t>
            </a:r>
            <a:endParaRPr sz="3200"/>
          </a:p>
        </p:txBody>
      </p:sp>
      <p:sp>
        <p:nvSpPr>
          <p:cNvPr id="434" name="Google Shape;434;g3f830cada31_0_267"/>
          <p:cNvSpPr/>
          <p:nvPr/>
        </p:nvSpPr>
        <p:spPr>
          <a:xfrm>
            <a:off x="1508760" y="9281160"/>
            <a:ext cx="3657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830cada31_0_267"/>
          <p:cNvSpPr txBox="1"/>
          <p:nvPr/>
        </p:nvSpPr>
        <p:spPr>
          <a:xfrm>
            <a:off x="1673351" y="9735312"/>
            <a:ext cx="332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22C59"/>
                </a:solidFill>
                <a:latin typeface="Arial"/>
                <a:ea typeface="Arial"/>
                <a:cs typeface="Arial"/>
                <a:sym typeface="Arial"/>
              </a:rPr>
              <a:t>연산량</a:t>
            </a:r>
            <a:endParaRPr sz="3200"/>
          </a:p>
        </p:txBody>
      </p:sp>
      <p:sp>
        <p:nvSpPr>
          <p:cNvPr id="436" name="Google Shape;436;g3f830cada31_0_267"/>
          <p:cNvSpPr/>
          <p:nvPr/>
        </p:nvSpPr>
        <p:spPr>
          <a:xfrm>
            <a:off x="5166360" y="9281160"/>
            <a:ext cx="84126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3f830cada31_0_267"/>
          <p:cNvSpPr txBox="1"/>
          <p:nvPr/>
        </p:nvSpPr>
        <p:spPr>
          <a:xfrm>
            <a:off x="5330952" y="9763361"/>
            <a:ext cx="80832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비교적 적음</a:t>
            </a:r>
            <a:endParaRPr sz="3200"/>
          </a:p>
        </p:txBody>
      </p:sp>
      <p:sp>
        <p:nvSpPr>
          <p:cNvPr id="438" name="Google Shape;438;g3f830cada31_0_267"/>
          <p:cNvSpPr/>
          <p:nvPr/>
        </p:nvSpPr>
        <p:spPr>
          <a:xfrm>
            <a:off x="13578840" y="9281160"/>
            <a:ext cx="9290400" cy="1481400"/>
          </a:xfrm>
          <a:prstGeom prst="rect">
            <a:avLst/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830cada31_0_267"/>
          <p:cNvSpPr txBox="1"/>
          <p:nvPr/>
        </p:nvSpPr>
        <p:spPr>
          <a:xfrm>
            <a:off x="13743432" y="9534761"/>
            <a:ext cx="8961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시각 토큰 수가 증가할수록</a:t>
            </a:r>
            <a:endParaRPr sz="3200"/>
          </a:p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연산량 증가</a:t>
            </a:r>
            <a:endParaRPr sz="3200"/>
          </a:p>
        </p:txBody>
      </p:sp>
      <p:sp>
        <p:nvSpPr>
          <p:cNvPr id="440" name="Google Shape;440;g3f830cada31_0_267"/>
          <p:cNvSpPr/>
          <p:nvPr/>
        </p:nvSpPr>
        <p:spPr>
          <a:xfrm>
            <a:off x="1536192" y="896112"/>
            <a:ext cx="21689700" cy="7863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830cada31_0_267"/>
          <p:cNvSpPr txBox="1"/>
          <p:nvPr/>
        </p:nvSpPr>
        <p:spPr>
          <a:xfrm>
            <a:off x="2103120" y="1111903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/>
              <a:t>2. 모델 비교</a:t>
            </a:r>
            <a:endParaRPr sz="2400"/>
          </a:p>
        </p:txBody>
      </p:sp>
      <p:sp>
        <p:nvSpPr>
          <p:cNvPr id="442" name="Google Shape;442;g3f830cada31_0_267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알약 각인 OCR</a:t>
            </a:r>
            <a:endParaRPr b="1" sz="3000"/>
          </a:p>
        </p:txBody>
      </p:sp>
      <p:sp>
        <p:nvSpPr>
          <p:cNvPr id="443" name="Google Shape;443;g3f830cada31_0_267"/>
          <p:cNvSpPr/>
          <p:nvPr/>
        </p:nvSpPr>
        <p:spPr>
          <a:xfrm>
            <a:off x="1508760" y="11503152"/>
            <a:ext cx="21360300" cy="841200"/>
          </a:xfrm>
          <a:prstGeom prst="roundRect">
            <a:avLst>
              <a:gd fmla="val 16667" name="adj"/>
            </a:avLst>
          </a:prstGeom>
          <a:solidFill>
            <a:srgbClr val="122C5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830cada31_0_267"/>
          <p:cNvSpPr txBox="1"/>
          <p:nvPr/>
        </p:nvSpPr>
        <p:spPr>
          <a:xfrm>
            <a:off x="1920240" y="11661648"/>
            <a:ext cx="20537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</a:rPr>
              <a:t>불규칙한 각인 배치를 더 잘 찾기 위해 더 높은 연산 비용을 감수합니다.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830cada31_0_310"/>
          <p:cNvSpPr/>
          <p:nvPr/>
        </p:nvSpPr>
        <p:spPr>
          <a:xfrm>
            <a:off x="0" y="0"/>
            <a:ext cx="24384300" cy="13716000"/>
          </a:xfrm>
          <a:prstGeom prst="rect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830cada31_0_310"/>
          <p:cNvSpPr/>
          <p:nvPr/>
        </p:nvSpPr>
        <p:spPr>
          <a:xfrm>
            <a:off x="658368" y="-411480"/>
            <a:ext cx="23070300" cy="1346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830cada31_0_310"/>
          <p:cNvSpPr/>
          <p:nvPr/>
        </p:nvSpPr>
        <p:spPr>
          <a:xfrm>
            <a:off x="1536192" y="896112"/>
            <a:ext cx="21689700" cy="786300"/>
          </a:xfrm>
          <a:prstGeom prst="roundRect">
            <a:avLst>
              <a:gd fmla="val 16667" name="adj"/>
            </a:avLst>
          </a:prstGeom>
          <a:solidFill>
            <a:srgbClr val="F5F5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830cada31_0_310"/>
          <p:cNvSpPr txBox="1"/>
          <p:nvPr/>
        </p:nvSpPr>
        <p:spPr>
          <a:xfrm>
            <a:off x="1371600" y="1975104"/>
            <a:ext cx="216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</a:rPr>
              <a:t>순차적 읽기에서 </a:t>
            </a:r>
            <a:r>
              <a:rPr b="1" i="0" lang="en-US" sz="6000" u="none" cap="none" strike="noStrike">
                <a:solidFill>
                  <a:srgbClr val="1C73FF"/>
                </a:solidFill>
              </a:rPr>
              <a:t>공간적 이해</a:t>
            </a:r>
            <a:r>
              <a:rPr b="1" i="0" lang="en-US" sz="6000" u="none" cap="none" strike="noStrike">
                <a:solidFill>
                  <a:srgbClr val="000000"/>
                </a:solidFill>
              </a:rPr>
              <a:t>로</a:t>
            </a:r>
            <a:endParaRPr b="1" sz="6000"/>
          </a:p>
        </p:txBody>
      </p:sp>
      <p:sp>
        <p:nvSpPr>
          <p:cNvPr id="454" name="Google Shape;454;g3f830cada31_0_310"/>
          <p:cNvSpPr txBox="1"/>
          <p:nvPr/>
        </p:nvSpPr>
        <p:spPr>
          <a:xfrm>
            <a:off x="2468880" y="3060192"/>
            <a:ext cx="194493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CRNN은 읽기 순서에 집중하고, </a:t>
            </a:r>
            <a:r>
              <a:rPr lang="en-US" sz="2800">
                <a:solidFill>
                  <a:srgbClr val="595959"/>
                </a:solidFill>
              </a:rPr>
              <a:t>CNN + Transformer 결합 방식</a:t>
            </a: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은 2차원 위치와 전체 문맥을 함께 봅니다.</a:t>
            </a:r>
            <a:endParaRPr sz="2800"/>
          </a:p>
        </p:txBody>
      </p:sp>
      <p:sp>
        <p:nvSpPr>
          <p:cNvPr id="455" name="Google Shape;455;g3f830cada31_0_310"/>
          <p:cNvSpPr/>
          <p:nvPr/>
        </p:nvSpPr>
        <p:spPr>
          <a:xfrm>
            <a:off x="1508760" y="3931920"/>
            <a:ext cx="10369200" cy="82113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830cada31_0_310"/>
          <p:cNvSpPr/>
          <p:nvPr/>
        </p:nvSpPr>
        <p:spPr>
          <a:xfrm>
            <a:off x="12499848" y="3931920"/>
            <a:ext cx="10369200" cy="8211300"/>
          </a:xfrm>
          <a:prstGeom prst="roundRect">
            <a:avLst>
              <a:gd fmla="val 16667" name="adj"/>
            </a:avLst>
          </a:prstGeom>
          <a:solidFill>
            <a:srgbClr val="F4F7F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830cada31_0_310"/>
          <p:cNvSpPr/>
          <p:nvPr/>
        </p:nvSpPr>
        <p:spPr>
          <a:xfrm>
            <a:off x="1935572" y="4300728"/>
            <a:ext cx="9528000" cy="7497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830cada31_0_310"/>
          <p:cNvSpPr txBox="1"/>
          <p:nvPr/>
        </p:nvSpPr>
        <p:spPr>
          <a:xfrm>
            <a:off x="2075676" y="4334034"/>
            <a:ext cx="92355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 + Transformer</a:t>
            </a:r>
            <a:endParaRPr sz="4000"/>
          </a:p>
        </p:txBody>
      </p:sp>
      <p:sp>
        <p:nvSpPr>
          <p:cNvPr id="459" name="Google Shape;459;g3f830cada31_0_310"/>
          <p:cNvSpPr/>
          <p:nvPr/>
        </p:nvSpPr>
        <p:spPr>
          <a:xfrm>
            <a:off x="2095809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830cada31_0_310"/>
          <p:cNvSpPr/>
          <p:nvPr/>
        </p:nvSpPr>
        <p:spPr>
          <a:xfrm>
            <a:off x="2205536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830cada31_0_310"/>
          <p:cNvSpPr txBox="1"/>
          <p:nvPr/>
        </p:nvSpPr>
        <p:spPr>
          <a:xfrm>
            <a:off x="2210011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300"/>
          </a:p>
        </p:txBody>
      </p:sp>
      <p:sp>
        <p:nvSpPr>
          <p:cNvPr id="462" name="Google Shape;462;g3f830cada31_0_310"/>
          <p:cNvSpPr txBox="1"/>
          <p:nvPr/>
        </p:nvSpPr>
        <p:spPr>
          <a:xfrm>
            <a:off x="2758035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CNN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특징</a:t>
            </a:r>
            <a:endParaRPr sz="2400"/>
          </a:p>
        </p:txBody>
      </p:sp>
      <p:sp>
        <p:nvSpPr>
          <p:cNvPr id="463" name="Google Shape;463;g3f830cada31_0_310"/>
          <p:cNvSpPr/>
          <p:nvPr/>
        </p:nvSpPr>
        <p:spPr>
          <a:xfrm>
            <a:off x="4107488" y="5823809"/>
            <a:ext cx="3474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f830cada31_0_310"/>
          <p:cNvSpPr/>
          <p:nvPr/>
        </p:nvSpPr>
        <p:spPr>
          <a:xfrm>
            <a:off x="4546401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30cada31_0_310"/>
          <p:cNvSpPr/>
          <p:nvPr/>
        </p:nvSpPr>
        <p:spPr>
          <a:xfrm>
            <a:off x="4656129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30cada31_0_310"/>
          <p:cNvSpPr txBox="1"/>
          <p:nvPr/>
        </p:nvSpPr>
        <p:spPr>
          <a:xfrm>
            <a:off x="4660604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300"/>
          </a:p>
        </p:txBody>
      </p:sp>
      <p:sp>
        <p:nvSpPr>
          <p:cNvPr id="467" name="Google Shape;467;g3f830cada31_0_310"/>
          <p:cNvSpPr txBox="1"/>
          <p:nvPr/>
        </p:nvSpPr>
        <p:spPr>
          <a:xfrm>
            <a:off x="5208627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2D 위치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endParaRPr sz="2400"/>
          </a:p>
        </p:txBody>
      </p:sp>
      <p:sp>
        <p:nvSpPr>
          <p:cNvPr id="468" name="Google Shape;468;g3f830cada31_0_310"/>
          <p:cNvSpPr/>
          <p:nvPr/>
        </p:nvSpPr>
        <p:spPr>
          <a:xfrm>
            <a:off x="6558081" y="5823809"/>
            <a:ext cx="3474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f830cada31_0_310"/>
          <p:cNvSpPr/>
          <p:nvPr/>
        </p:nvSpPr>
        <p:spPr>
          <a:xfrm>
            <a:off x="6996993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f830cada31_0_310"/>
          <p:cNvSpPr/>
          <p:nvPr/>
        </p:nvSpPr>
        <p:spPr>
          <a:xfrm>
            <a:off x="7106721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830cada31_0_310"/>
          <p:cNvSpPr txBox="1"/>
          <p:nvPr/>
        </p:nvSpPr>
        <p:spPr>
          <a:xfrm>
            <a:off x="7111196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300"/>
          </a:p>
        </p:txBody>
      </p:sp>
      <p:sp>
        <p:nvSpPr>
          <p:cNvPr id="472" name="Google Shape;472;g3f830cada31_0_310"/>
          <p:cNvSpPr txBox="1"/>
          <p:nvPr/>
        </p:nvSpPr>
        <p:spPr>
          <a:xfrm>
            <a:off x="7659219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전역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어텐션</a:t>
            </a:r>
            <a:endParaRPr sz="2400"/>
          </a:p>
        </p:txBody>
      </p:sp>
      <p:sp>
        <p:nvSpPr>
          <p:cNvPr id="473" name="Google Shape;473;g3f830cada31_0_310"/>
          <p:cNvSpPr/>
          <p:nvPr/>
        </p:nvSpPr>
        <p:spPr>
          <a:xfrm>
            <a:off x="9008673" y="5823809"/>
            <a:ext cx="347400" cy="31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830cada31_0_310"/>
          <p:cNvSpPr/>
          <p:nvPr/>
        </p:nvSpPr>
        <p:spPr>
          <a:xfrm>
            <a:off x="9447585" y="5403185"/>
            <a:ext cx="1920300" cy="11703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f830cada31_0_310"/>
          <p:cNvSpPr/>
          <p:nvPr/>
        </p:nvSpPr>
        <p:spPr>
          <a:xfrm>
            <a:off x="9557313" y="5714081"/>
            <a:ext cx="502800" cy="502800"/>
          </a:xfrm>
          <a:prstGeom prst="ellipse">
            <a:avLst/>
          </a:prstGeom>
          <a:solidFill>
            <a:srgbClr val="50C4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830cada31_0_310"/>
          <p:cNvSpPr txBox="1"/>
          <p:nvPr/>
        </p:nvSpPr>
        <p:spPr>
          <a:xfrm>
            <a:off x="9561788" y="5756433"/>
            <a:ext cx="5028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300"/>
          </a:p>
        </p:txBody>
      </p:sp>
      <p:sp>
        <p:nvSpPr>
          <p:cNvPr id="477" name="Google Shape;477;g3f830cada31_0_310"/>
          <p:cNvSpPr txBox="1"/>
          <p:nvPr/>
        </p:nvSpPr>
        <p:spPr>
          <a:xfrm>
            <a:off x="10109811" y="5582697"/>
            <a:ext cx="1115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각인</a:t>
            </a:r>
            <a:endParaRPr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디코딩</a:t>
            </a:r>
            <a:endParaRPr sz="2400"/>
          </a:p>
        </p:txBody>
      </p:sp>
      <p:sp>
        <p:nvSpPr>
          <p:cNvPr id="478" name="Google Shape;478;g3f830cada31_0_310"/>
          <p:cNvSpPr/>
          <p:nvPr/>
        </p:nvSpPr>
        <p:spPr>
          <a:xfrm>
            <a:off x="2084831" y="8641080"/>
            <a:ext cx="9217200" cy="212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830cada31_0_310"/>
          <p:cNvSpPr/>
          <p:nvPr/>
        </p:nvSpPr>
        <p:spPr>
          <a:xfrm>
            <a:off x="3822191" y="11027664"/>
            <a:ext cx="5742300" cy="60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75">
            <a:solidFill>
              <a:srgbClr val="98A2B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f830cada31_0_310"/>
          <p:cNvSpPr txBox="1"/>
          <p:nvPr/>
        </p:nvSpPr>
        <p:spPr>
          <a:xfrm>
            <a:off x="2185465" y="6787590"/>
            <a:ext cx="9125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행·열 위치를 유지하며 전체 관계 연결</a:t>
            </a:r>
            <a:endParaRPr sz="2800"/>
          </a:p>
        </p:txBody>
      </p:sp>
      <p:cxnSp>
        <p:nvCxnSpPr>
          <p:cNvPr id="481" name="Google Shape;481;g3f830cada31_0_310"/>
          <p:cNvCxnSpPr/>
          <p:nvPr/>
        </p:nvCxnSpPr>
        <p:spPr>
          <a:xfrm>
            <a:off x="5323249" y="7489104"/>
            <a:ext cx="213960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82" name="Google Shape;482;g3f830cada31_0_310"/>
          <p:cNvCxnSpPr/>
          <p:nvPr/>
        </p:nvCxnSpPr>
        <p:spPr>
          <a:xfrm>
            <a:off x="6036481" y="7489104"/>
            <a:ext cx="1426500" cy="768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83" name="Google Shape;483;g3f830cada31_0_310"/>
          <p:cNvCxnSpPr/>
          <p:nvPr/>
        </p:nvCxnSpPr>
        <p:spPr>
          <a:xfrm>
            <a:off x="6748294" y="7522877"/>
            <a:ext cx="142650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84" name="Google Shape;484;g3f830cada31_0_310"/>
          <p:cNvCxnSpPr/>
          <p:nvPr/>
        </p:nvCxnSpPr>
        <p:spPr>
          <a:xfrm flipH="1">
            <a:off x="5323177" y="7489104"/>
            <a:ext cx="2853000" cy="768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85" name="Google Shape;485;g3f830cada31_0_310"/>
          <p:cNvCxnSpPr/>
          <p:nvPr/>
        </p:nvCxnSpPr>
        <p:spPr>
          <a:xfrm>
            <a:off x="5323249" y="7873152"/>
            <a:ext cx="285300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86" name="Google Shape;486;g3f830cada31_0_310"/>
          <p:cNvCxnSpPr/>
          <p:nvPr/>
        </p:nvCxnSpPr>
        <p:spPr>
          <a:xfrm>
            <a:off x="6749713" y="7873152"/>
            <a:ext cx="0" cy="384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87" name="Google Shape;487;g3f830cada31_0_310"/>
          <p:cNvCxnSpPr/>
          <p:nvPr/>
        </p:nvCxnSpPr>
        <p:spPr>
          <a:xfrm flipH="1">
            <a:off x="6036445" y="7489104"/>
            <a:ext cx="1426500" cy="768000"/>
          </a:xfrm>
          <a:prstGeom prst="straightConnector1">
            <a:avLst/>
          </a:prstGeom>
          <a:noFill/>
          <a:ln cap="flat" cmpd="sng" w="15225">
            <a:solidFill>
              <a:srgbClr val="50C4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88" name="Google Shape;488;g3f830cada31_0_310"/>
          <p:cNvSpPr/>
          <p:nvPr/>
        </p:nvSpPr>
        <p:spPr>
          <a:xfrm>
            <a:off x="5184758" y="7368680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30cada31_0_310"/>
          <p:cNvSpPr/>
          <p:nvPr/>
        </p:nvSpPr>
        <p:spPr>
          <a:xfrm>
            <a:off x="5897990" y="736868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30cada31_0_310"/>
          <p:cNvSpPr/>
          <p:nvPr/>
        </p:nvSpPr>
        <p:spPr>
          <a:xfrm>
            <a:off x="6611222" y="736868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30cada31_0_310"/>
          <p:cNvSpPr/>
          <p:nvPr/>
        </p:nvSpPr>
        <p:spPr>
          <a:xfrm>
            <a:off x="7324454" y="7368680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830cada31_0_310"/>
          <p:cNvSpPr/>
          <p:nvPr/>
        </p:nvSpPr>
        <p:spPr>
          <a:xfrm>
            <a:off x="8037686" y="7368680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830cada31_0_310"/>
          <p:cNvSpPr/>
          <p:nvPr/>
        </p:nvSpPr>
        <p:spPr>
          <a:xfrm>
            <a:off x="5184758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830cada31_0_310"/>
          <p:cNvSpPr/>
          <p:nvPr/>
        </p:nvSpPr>
        <p:spPr>
          <a:xfrm>
            <a:off x="5897990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830cada31_0_310"/>
          <p:cNvSpPr/>
          <p:nvPr/>
        </p:nvSpPr>
        <p:spPr>
          <a:xfrm>
            <a:off x="6611222" y="7752728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f830cada31_0_310"/>
          <p:cNvSpPr/>
          <p:nvPr/>
        </p:nvSpPr>
        <p:spPr>
          <a:xfrm>
            <a:off x="7324454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f830cada31_0_310"/>
          <p:cNvSpPr/>
          <p:nvPr/>
        </p:nvSpPr>
        <p:spPr>
          <a:xfrm>
            <a:off x="8037686" y="7752728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f830cada31_0_310"/>
          <p:cNvSpPr/>
          <p:nvPr/>
        </p:nvSpPr>
        <p:spPr>
          <a:xfrm>
            <a:off x="5184758" y="8136776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830cada31_0_310"/>
          <p:cNvSpPr/>
          <p:nvPr/>
        </p:nvSpPr>
        <p:spPr>
          <a:xfrm>
            <a:off x="5897990" y="8136776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f830cada31_0_310"/>
          <p:cNvSpPr/>
          <p:nvPr/>
        </p:nvSpPr>
        <p:spPr>
          <a:xfrm>
            <a:off x="6611222" y="8136776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30cada31_0_310"/>
          <p:cNvSpPr/>
          <p:nvPr/>
        </p:nvSpPr>
        <p:spPr>
          <a:xfrm>
            <a:off x="7324454" y="8136776"/>
            <a:ext cx="274200" cy="274200"/>
          </a:xfrm>
          <a:prstGeom prst="ellipse">
            <a:avLst/>
          </a:prstGeom>
          <a:solidFill>
            <a:srgbClr val="FFFFFF"/>
          </a:solidFill>
          <a:ln cap="flat" cmpd="sng" w="17775">
            <a:solidFill>
              <a:srgbClr val="1C73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830cada31_0_310"/>
          <p:cNvSpPr/>
          <p:nvPr/>
        </p:nvSpPr>
        <p:spPr>
          <a:xfrm>
            <a:off x="8037686" y="8136776"/>
            <a:ext cx="274200" cy="274200"/>
          </a:xfrm>
          <a:prstGeom prst="ellipse">
            <a:avLst/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f830cada31_0_310"/>
          <p:cNvSpPr txBox="1"/>
          <p:nvPr/>
        </p:nvSpPr>
        <p:spPr>
          <a:xfrm>
            <a:off x="2450600" y="9018888"/>
            <a:ext cx="8485500" cy="1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2차원 위치 정보를 유지한 채</a:t>
            </a:r>
            <a:endParaRPr sz="2800">
              <a:solidFill>
                <a:srgbClr val="595959"/>
              </a:solidFill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전체 영역의 관계를 동시에 분석하여,</a:t>
            </a:r>
            <a:endParaRPr sz="28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다양한 방향과 배열의 각인을 효과적으로 인식합니다.</a:t>
            </a:r>
            <a:endParaRPr sz="2800"/>
          </a:p>
        </p:txBody>
      </p:sp>
      <p:sp>
        <p:nvSpPr>
          <p:cNvPr id="504" name="Google Shape;504;g3f830cada31_0_310"/>
          <p:cNvSpPr txBox="1"/>
          <p:nvPr/>
        </p:nvSpPr>
        <p:spPr>
          <a:xfrm>
            <a:off x="3977653" y="11082504"/>
            <a:ext cx="543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C73FF"/>
                </a:solidFill>
                <a:latin typeface="Arial"/>
                <a:ea typeface="Arial"/>
                <a:cs typeface="Arial"/>
                <a:sym typeface="Arial"/>
              </a:rPr>
              <a:t>강점  |  불규칙한 2D 배치 이해</a:t>
            </a:r>
            <a:endParaRPr sz="2800"/>
          </a:p>
        </p:txBody>
      </p:sp>
      <p:sp>
        <p:nvSpPr>
          <p:cNvPr id="505" name="Google Shape;505;g3f830cada31_0_310"/>
          <p:cNvSpPr txBox="1"/>
          <p:nvPr/>
        </p:nvSpPr>
        <p:spPr>
          <a:xfrm>
            <a:off x="2103120" y="1111903"/>
            <a:ext cx="6858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/>
              <a:t>3. 모델 구조</a:t>
            </a:r>
            <a:endParaRPr sz="2400"/>
          </a:p>
        </p:txBody>
      </p:sp>
      <p:pic>
        <p:nvPicPr>
          <p:cNvPr id="506" name="Google Shape;506;g3f830cada31_0_310" title="009_201305780_truth-SU250_cnn-SU250_crnn-SUDS_crop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6675" y="5551600"/>
            <a:ext cx="1819275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f830cada31_0_310" title="014_197800390_truth-TZ500_cnn-TZ500_crnn-12600_crop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54688" y="9211188"/>
            <a:ext cx="2752725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f830cada31_0_310"/>
          <p:cNvSpPr/>
          <p:nvPr/>
        </p:nvSpPr>
        <p:spPr>
          <a:xfrm>
            <a:off x="13822427" y="7339648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SUDS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SU250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830cada31_0_310"/>
          <p:cNvSpPr/>
          <p:nvPr/>
        </p:nvSpPr>
        <p:spPr>
          <a:xfrm>
            <a:off x="18737151" y="7339648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ATNEO0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QTN200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830cada31_0_310"/>
          <p:cNvSpPr txBox="1"/>
          <p:nvPr/>
        </p:nvSpPr>
        <p:spPr>
          <a:xfrm>
            <a:off x="16748760" y="10637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알약 각인 OCR</a:t>
            </a:r>
            <a:endParaRPr b="1" sz="3000"/>
          </a:p>
        </p:txBody>
      </p:sp>
      <p:sp>
        <p:nvSpPr>
          <p:cNvPr id="511" name="Google Shape;511;g3f830cada31_0_310"/>
          <p:cNvSpPr/>
          <p:nvPr/>
        </p:nvSpPr>
        <p:spPr>
          <a:xfrm>
            <a:off x="12920447" y="4300728"/>
            <a:ext cx="9528000" cy="749700"/>
          </a:xfrm>
          <a:prstGeom prst="roundRect">
            <a:avLst>
              <a:gd fmla="val 16667" name="adj"/>
            </a:avLst>
          </a:prstGeom>
          <a:solidFill>
            <a:srgbClr val="1C73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830cada31_0_310"/>
          <p:cNvSpPr txBox="1"/>
          <p:nvPr/>
        </p:nvSpPr>
        <p:spPr>
          <a:xfrm>
            <a:off x="13066701" y="4334034"/>
            <a:ext cx="92355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</a:rPr>
              <a:t>개선된 각인 인식</a:t>
            </a:r>
            <a:endParaRPr sz="4000"/>
          </a:p>
        </p:txBody>
      </p:sp>
      <p:sp>
        <p:nvSpPr>
          <p:cNvPr id="513" name="Google Shape;513;g3f830cada31_0_310"/>
          <p:cNvSpPr/>
          <p:nvPr/>
        </p:nvSpPr>
        <p:spPr>
          <a:xfrm>
            <a:off x="13822427" y="10716073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RESTASE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BESTASE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830cada31_0_310"/>
          <p:cNvSpPr/>
          <p:nvPr/>
        </p:nvSpPr>
        <p:spPr>
          <a:xfrm>
            <a:off x="18737151" y="10716073"/>
            <a:ext cx="3187800" cy="117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CRNN : 12600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개선 : TZ500</a:t>
            </a:r>
            <a:endParaRPr sz="3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g3f830cada31_0_310" title="056_201802736_truth-QTN200_cnn-QTN200_crnn-ATNEO0_crop-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6163" y="5394427"/>
            <a:ext cx="22098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f830cada31_0_310" title="012_196600011_truth-BESTASE_cnn-BESTASE_crnn-RESTASE_crop-0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35200" y="8674788"/>
            <a:ext cx="256222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937487b4b_0_74"/>
          <p:cNvSpPr/>
          <p:nvPr/>
        </p:nvSpPr>
        <p:spPr>
          <a:xfrm>
            <a:off x="1005840" y="82296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01. 대화 흐름 개선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937487b4b_0_74"/>
          <p:cNvSpPr/>
          <p:nvPr/>
        </p:nvSpPr>
        <p:spPr>
          <a:xfrm>
            <a:off x="1005840" y="1499616"/>
            <a:ext cx="21945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0"/>
              <a:buFont typeface="Noto Sans"/>
              <a:buNone/>
            </a:pPr>
            <a:r>
              <a:rPr b="1" lang="en-US" sz="60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각인이 안 보여도 </a:t>
            </a:r>
            <a:r>
              <a:rPr b="1" lang="en-US" sz="60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찾을 수 있게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937487b4b_0_74"/>
          <p:cNvSpPr/>
          <p:nvPr/>
        </p:nvSpPr>
        <p:spPr>
          <a:xfrm>
            <a:off x="1005840" y="3383280"/>
            <a:ext cx="22311600" cy="1499400"/>
          </a:xfrm>
          <a:prstGeom prst="roundRect">
            <a:avLst>
              <a:gd fmla="val 12195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937487b4b_0_74"/>
          <p:cNvSpPr/>
          <p:nvPr/>
        </p:nvSpPr>
        <p:spPr>
          <a:xfrm>
            <a:off x="1554480" y="3822192"/>
            <a:ext cx="621600" cy="621600"/>
          </a:xfrm>
          <a:prstGeom prst="ellipse">
            <a:avLst/>
          </a:prstGeom>
          <a:solidFill>
            <a:srgbClr val="E23B3B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937487b4b_0_74"/>
          <p:cNvSpPr/>
          <p:nvPr/>
        </p:nvSpPr>
        <p:spPr>
          <a:xfrm>
            <a:off x="1554480" y="3767328"/>
            <a:ext cx="621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Noto Sans"/>
              <a:buNone/>
            </a:pPr>
            <a:r>
              <a:rPr b="1" lang="en-US" sz="3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937487b4b_0_74"/>
          <p:cNvSpPr/>
          <p:nvPr/>
        </p:nvSpPr>
        <p:spPr>
          <a:xfrm>
            <a:off x="2560320" y="3383280"/>
            <a:ext cx="202998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3B3B"/>
              </a:buClr>
              <a:buSzPts val="3200"/>
              <a:buFont typeface="Noto Sans"/>
              <a:buNone/>
            </a:pPr>
            <a:r>
              <a:rPr b="1" lang="en-US" sz="3200">
                <a:solidFill>
                  <a:srgbClr val="E23B3B"/>
                </a:solidFill>
                <a:latin typeface="Noto Sans"/>
                <a:ea typeface="Noto Sans"/>
                <a:cs typeface="Noto Sans"/>
                <a:sym typeface="Noto Sans"/>
              </a:rPr>
              <a:t>기존의 문제 -&gt;  </a:t>
            </a: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알약이 마모돼 각인을 읽을 수 없으면 기존에는 </a:t>
            </a:r>
            <a:r>
              <a:rPr b="1" lang="en-US" sz="32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“못 찾음”</a:t>
            </a: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으로 종료 (막다른 길)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937487b4b_0_74"/>
          <p:cNvSpPr/>
          <p:nvPr/>
        </p:nvSpPr>
        <p:spPr>
          <a:xfrm>
            <a:off x="1271016" y="5323422"/>
            <a:ext cx="1468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400"/>
              <a:buFont typeface="Noto Sans"/>
              <a:buNone/>
            </a:pPr>
            <a:r>
              <a:rPr b="1" lang="en-US" sz="34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해결 </a:t>
            </a:r>
            <a:r>
              <a:rPr b="1" lang="en-US" sz="34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필터링 조건을 추가하고 조금 더 유연한 대화형 로직을 설계함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937487b4b_0_74"/>
          <p:cNvSpPr/>
          <p:nvPr/>
        </p:nvSpPr>
        <p:spPr>
          <a:xfrm>
            <a:off x="1645920" y="6766560"/>
            <a:ext cx="6400800" cy="3566400"/>
          </a:xfrm>
          <a:prstGeom prst="roundRect">
            <a:avLst>
              <a:gd fmla="val 6154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200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g3f937487b4b_0_74"/>
          <p:cNvSpPr/>
          <p:nvPr/>
        </p:nvSpPr>
        <p:spPr>
          <a:xfrm>
            <a:off x="2194560" y="7351776"/>
            <a:ext cx="914400" cy="914400"/>
          </a:xfrm>
          <a:prstGeom prst="ellipse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937487b4b_0_74"/>
          <p:cNvSpPr/>
          <p:nvPr/>
        </p:nvSpPr>
        <p:spPr>
          <a:xfrm>
            <a:off x="2194560" y="735177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Noto Sans"/>
              <a:buNone/>
            </a:pPr>
            <a:r>
              <a:rPr b="1" lang="en-US" sz="3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937487b4b_0_74"/>
          <p:cNvSpPr/>
          <p:nvPr/>
        </p:nvSpPr>
        <p:spPr>
          <a:xfrm>
            <a:off x="3383280" y="7315200"/>
            <a:ext cx="4389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Noto Sans"/>
              <a:buNone/>
            </a:pPr>
            <a:r>
              <a:rPr b="1" lang="en-US" sz="42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각인이 없다면?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3f937487b4b_0_74"/>
          <p:cNvSpPr/>
          <p:nvPr/>
        </p:nvSpPr>
        <p:spPr>
          <a:xfrm>
            <a:off x="2340864" y="8549640"/>
            <a:ext cx="5303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가장 강력한 식별자이지만 </a:t>
            </a:r>
            <a:endParaRPr sz="2800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설명하기 모호하거나 </a:t>
            </a:r>
            <a:endParaRPr sz="2800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지워진 경우에는?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937487b4b_0_74"/>
          <p:cNvSpPr/>
          <p:nvPr/>
        </p:nvSpPr>
        <p:spPr>
          <a:xfrm>
            <a:off x="9180576" y="6766560"/>
            <a:ext cx="6400800" cy="3566400"/>
          </a:xfrm>
          <a:prstGeom prst="roundRect">
            <a:avLst>
              <a:gd fmla="val 6154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200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937487b4b_0_74"/>
          <p:cNvSpPr/>
          <p:nvPr/>
        </p:nvSpPr>
        <p:spPr>
          <a:xfrm>
            <a:off x="9631324" y="7325152"/>
            <a:ext cx="914400" cy="914400"/>
          </a:xfrm>
          <a:prstGeom prst="ellipse">
            <a:avLst/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937487b4b_0_74"/>
          <p:cNvSpPr/>
          <p:nvPr/>
        </p:nvSpPr>
        <p:spPr>
          <a:xfrm>
            <a:off x="9631324" y="732515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Noto Sans"/>
              <a:buNone/>
            </a:pPr>
            <a:r>
              <a:rPr b="1" lang="en-US" sz="3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g3f937487b4b_0_74"/>
          <p:cNvSpPr/>
          <p:nvPr/>
        </p:nvSpPr>
        <p:spPr>
          <a:xfrm>
            <a:off x="10710316" y="7325152"/>
            <a:ext cx="45966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Noto Sans"/>
              <a:buNone/>
            </a:pPr>
            <a:r>
              <a:rPr b="1" lang="en-US" sz="42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다양한 </a:t>
            </a:r>
            <a:endParaRPr b="1" sz="4200">
              <a:solidFill>
                <a:srgbClr val="1A1A2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Noto Sans"/>
              <a:buNone/>
            </a:pPr>
            <a:r>
              <a:rPr b="1" lang="en-US" sz="42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물리적 필터링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937487b4b_0_74"/>
          <p:cNvSpPr/>
          <p:nvPr/>
        </p:nvSpPr>
        <p:spPr>
          <a:xfrm>
            <a:off x="9631324" y="8686800"/>
            <a:ext cx="6803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기존의 색상, 모양, 분할선 유무</a:t>
            </a:r>
            <a:endParaRPr sz="2800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	+</a:t>
            </a:r>
            <a:endParaRPr sz="28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색상 개수, 분할선 모양 및 캡슐 여부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f937487b4b_0_74"/>
          <p:cNvSpPr/>
          <p:nvPr/>
        </p:nvSpPr>
        <p:spPr>
          <a:xfrm>
            <a:off x="16715232" y="6766560"/>
            <a:ext cx="6400800" cy="3566400"/>
          </a:xfrm>
          <a:prstGeom prst="roundRect">
            <a:avLst>
              <a:gd fmla="val 6154" name="adj"/>
            </a:avLst>
          </a:prstGeom>
          <a:solidFill>
            <a:srgbClr val="1C73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200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f937487b4b_0_74"/>
          <p:cNvSpPr/>
          <p:nvPr/>
        </p:nvSpPr>
        <p:spPr>
          <a:xfrm>
            <a:off x="17263872" y="7351776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f937487b4b_0_74"/>
          <p:cNvSpPr/>
          <p:nvPr/>
        </p:nvSpPr>
        <p:spPr>
          <a:xfrm>
            <a:off x="17263872" y="7351776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400"/>
              <a:buFont typeface="Noto Sans"/>
              <a:buNone/>
            </a:pPr>
            <a:r>
              <a:rPr b="1" lang="en-US" sz="34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f937487b4b_0_74"/>
          <p:cNvSpPr/>
          <p:nvPr/>
        </p:nvSpPr>
        <p:spPr>
          <a:xfrm>
            <a:off x="18452592" y="7315200"/>
            <a:ext cx="4389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Noto Sans"/>
              <a:buNone/>
            </a:pPr>
            <a:r>
              <a:rPr b="1" lang="en-US" sz="4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복용목적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3f937487b4b_0_74"/>
          <p:cNvSpPr/>
          <p:nvPr/>
        </p:nvSpPr>
        <p:spPr>
          <a:xfrm>
            <a:off x="17300448" y="8595360"/>
            <a:ext cx="53034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“무슨 증상 때문에?”라는 </a:t>
            </a:r>
            <a:endParaRPr sz="3200">
              <a:solidFill>
                <a:srgbClr val="DCE9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b="1"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맥락적 조건</a:t>
            </a:r>
            <a:r>
              <a:rPr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을 추가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f937487b4b_0_74"/>
          <p:cNvSpPr/>
          <p:nvPr/>
        </p:nvSpPr>
        <p:spPr>
          <a:xfrm>
            <a:off x="8156448" y="7909560"/>
            <a:ext cx="9144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000"/>
              <a:buFont typeface="Noto Sans"/>
              <a:buNone/>
            </a:pPr>
            <a:r>
              <a:rPr b="1" lang="en-US" sz="6000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937487b4b_0_74"/>
          <p:cNvSpPr/>
          <p:nvPr/>
        </p:nvSpPr>
        <p:spPr>
          <a:xfrm>
            <a:off x="15691104" y="7909560"/>
            <a:ext cx="9144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6000"/>
              <a:buFont typeface="Noto Sans"/>
              <a:buNone/>
            </a:pPr>
            <a:r>
              <a:rPr b="1" lang="en-US" sz="6000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›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937487b4b_0_74"/>
          <p:cNvSpPr/>
          <p:nvPr/>
        </p:nvSpPr>
        <p:spPr>
          <a:xfrm>
            <a:off x="1463040" y="10985172"/>
            <a:ext cx="2103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3200"/>
              <a:buFont typeface="Noto Sans"/>
              <a:buNone/>
            </a:pPr>
            <a:r>
              <a:rPr b="1" lang="en-US" sz="32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핵심  </a:t>
            </a: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각인을 </a:t>
            </a:r>
            <a:r>
              <a:rPr b="1" lang="en-US" sz="32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“모름”</a:t>
            </a: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으로 답하면 각인 필터를 걷어내고, 색·모양·분할선·</a:t>
            </a:r>
            <a:r>
              <a:rPr b="1" lang="en-US" sz="36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복용목적</a:t>
            </a: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으로 좁힌다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f937487b4b_0_74"/>
          <p:cNvSpPr/>
          <p:nvPr/>
        </p:nvSpPr>
        <p:spPr>
          <a:xfrm>
            <a:off x="1005840" y="12838176"/>
            <a:ext cx="10972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 · 2차 개선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3f937487b4b_0_74"/>
          <p:cNvSpPr/>
          <p:nvPr/>
        </p:nvSpPr>
        <p:spPr>
          <a:xfrm>
            <a:off x="22494240" y="12794070"/>
            <a:ext cx="823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937487b4b_0_74"/>
          <p:cNvSpPr txBox="1"/>
          <p:nvPr/>
        </p:nvSpPr>
        <p:spPr>
          <a:xfrm>
            <a:off x="16797360" y="8751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알약 </a:t>
            </a:r>
            <a:r>
              <a:rPr b="1" lang="en-US" sz="3000"/>
              <a:t>설명 기반 챗봇</a:t>
            </a:r>
            <a:endParaRPr b="1"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937487b4b_0_105"/>
          <p:cNvSpPr/>
          <p:nvPr/>
        </p:nvSpPr>
        <p:spPr>
          <a:xfrm>
            <a:off x="1005840" y="82296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2400"/>
              <a:buFont typeface="Noto Sans"/>
              <a:buNone/>
            </a:pPr>
            <a:r>
              <a:rPr b="1" lang="en-US" sz="24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02. LLM 활용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937487b4b_0_105"/>
          <p:cNvSpPr/>
          <p:nvPr/>
        </p:nvSpPr>
        <p:spPr>
          <a:xfrm>
            <a:off x="1005840" y="1499616"/>
            <a:ext cx="22677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0"/>
              <a:buFont typeface="Noto Sans"/>
              <a:buNone/>
            </a:pPr>
            <a:r>
              <a:rPr b="1" lang="en-US" sz="60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복용 목적으로 후보를 </a:t>
            </a:r>
            <a:r>
              <a:rPr b="1" lang="en-US" sz="60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지능적으로 정렬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937487b4b_0_105"/>
          <p:cNvSpPr/>
          <p:nvPr/>
        </p:nvSpPr>
        <p:spPr>
          <a:xfrm>
            <a:off x="1005840" y="2926080"/>
            <a:ext cx="2194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additional_sorter — 규칙으로 좁힌 후보를 LLM이 복용목적과 맞춰 재정렬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f937487b4b_0_105"/>
          <p:cNvSpPr/>
          <p:nvPr/>
        </p:nvSpPr>
        <p:spPr>
          <a:xfrm>
            <a:off x="1280160" y="4297680"/>
            <a:ext cx="6217800" cy="3109200"/>
          </a:xfrm>
          <a:prstGeom prst="roundRect">
            <a:avLst>
              <a:gd fmla="val 7059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200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937487b4b_0_105"/>
          <p:cNvSpPr/>
          <p:nvPr/>
        </p:nvSpPr>
        <p:spPr>
          <a:xfrm>
            <a:off x="1737360" y="4809744"/>
            <a:ext cx="5303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Noto Sans"/>
              <a:buNone/>
            </a:pPr>
            <a:r>
              <a:rPr b="1" lang="en-US" sz="40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사용자 입력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937487b4b_0_105"/>
          <p:cNvSpPr/>
          <p:nvPr/>
        </p:nvSpPr>
        <p:spPr>
          <a:xfrm>
            <a:off x="1737360" y="5797296"/>
            <a:ext cx="530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“속쓰림 때문에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먹었어요”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937487b4b_0_105"/>
          <p:cNvSpPr/>
          <p:nvPr/>
        </p:nvSpPr>
        <p:spPr>
          <a:xfrm>
            <a:off x="9052560" y="4297680"/>
            <a:ext cx="6217800" cy="3109200"/>
          </a:xfrm>
          <a:prstGeom prst="roundRect">
            <a:avLst>
              <a:gd fmla="val 7059" name="adj"/>
            </a:avLst>
          </a:prstGeom>
          <a:solidFill>
            <a:srgbClr val="1C73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200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937487b4b_0_105"/>
          <p:cNvSpPr/>
          <p:nvPr/>
        </p:nvSpPr>
        <p:spPr>
          <a:xfrm>
            <a:off x="9509760" y="4809744"/>
            <a:ext cx="5303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Noto Sans"/>
              <a:buNone/>
            </a:pPr>
            <a:r>
              <a:rPr b="1" lang="en-US" sz="4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LLM 매칭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937487b4b_0_105"/>
          <p:cNvSpPr/>
          <p:nvPr/>
        </p:nvSpPr>
        <p:spPr>
          <a:xfrm>
            <a:off x="9509760" y="5797296"/>
            <a:ext cx="530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속쓰림  ↔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소화성궤양용제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937487b4b_0_105"/>
          <p:cNvSpPr/>
          <p:nvPr/>
        </p:nvSpPr>
        <p:spPr>
          <a:xfrm>
            <a:off x="16824960" y="4297680"/>
            <a:ext cx="6217800" cy="3109200"/>
          </a:xfrm>
          <a:prstGeom prst="roundRect">
            <a:avLst>
              <a:gd fmla="val 7059" name="adj"/>
            </a:avLst>
          </a:prstGeom>
          <a:solidFill>
            <a:srgbClr val="EEF4FF"/>
          </a:solidFill>
          <a:ln>
            <a:noFill/>
          </a:ln>
          <a:effectLst>
            <a:outerShdw blurRad="203200" rotWithShape="0" algn="bl" dir="5400000" dist="76200">
              <a:srgbClr val="B8C4D8">
                <a:alpha val="50200"/>
              </a:srgbClr>
            </a:outerShdw>
          </a:effectLst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937487b4b_0_105"/>
          <p:cNvSpPr/>
          <p:nvPr/>
        </p:nvSpPr>
        <p:spPr>
          <a:xfrm>
            <a:off x="17282160" y="4809744"/>
            <a:ext cx="53034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Noto Sans"/>
              <a:buNone/>
            </a:pPr>
            <a:r>
              <a:rPr b="1" lang="en-US" sz="40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후보 재정렬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g3f937487b4b_0_105"/>
          <p:cNvSpPr/>
          <p:nvPr/>
        </p:nvSpPr>
        <p:spPr>
          <a:xfrm>
            <a:off x="17282160" y="5797296"/>
            <a:ext cx="530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관련 약품이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상위로 이동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937487b4b_0_105"/>
          <p:cNvSpPr/>
          <p:nvPr/>
        </p:nvSpPr>
        <p:spPr>
          <a:xfrm>
            <a:off x="7534656" y="5212080"/>
            <a:ext cx="1462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5200"/>
              <a:buFont typeface="Noto Sans"/>
              <a:buNone/>
            </a:pPr>
            <a:r>
              <a:rPr b="1" lang="en-US" sz="52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937487b4b_0_105"/>
          <p:cNvSpPr/>
          <p:nvPr/>
        </p:nvSpPr>
        <p:spPr>
          <a:xfrm>
            <a:off x="15307056" y="5212080"/>
            <a:ext cx="1462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3FF"/>
              </a:buClr>
              <a:buSzPts val="5200"/>
              <a:buFont typeface="Noto Sans"/>
              <a:buNone/>
            </a:pPr>
            <a:r>
              <a:rPr b="1" lang="en-US" sz="5200">
                <a:solidFill>
                  <a:srgbClr val="1C73FF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937487b4b_0_105"/>
          <p:cNvSpPr/>
          <p:nvPr/>
        </p:nvSpPr>
        <p:spPr>
          <a:xfrm>
            <a:off x="1280160" y="8229600"/>
            <a:ext cx="10972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Noto Sans"/>
              <a:buNone/>
            </a:pPr>
            <a:r>
              <a:rPr b="1" lang="en-US" sz="34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설계 원칙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f937487b4b_0_105"/>
          <p:cNvSpPr/>
          <p:nvPr/>
        </p:nvSpPr>
        <p:spPr>
          <a:xfrm>
            <a:off x="1280160" y="9144000"/>
            <a:ext cx="10789800" cy="2834400"/>
          </a:xfrm>
          <a:prstGeom prst="roundRect">
            <a:avLst>
              <a:gd fmla="val 645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937487b4b_0_105"/>
          <p:cNvSpPr/>
          <p:nvPr/>
        </p:nvSpPr>
        <p:spPr>
          <a:xfrm>
            <a:off x="1828800" y="9656064"/>
            <a:ext cx="768000" cy="768000"/>
          </a:xfrm>
          <a:prstGeom prst="roundRect">
            <a:avLst>
              <a:gd fmla="val 19048" name="adj"/>
            </a:avLst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3f937487b4b_0_105"/>
          <p:cNvSpPr/>
          <p:nvPr/>
        </p:nvSpPr>
        <p:spPr>
          <a:xfrm>
            <a:off x="1828800" y="9656064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oto Sans"/>
              <a:buNone/>
            </a:pPr>
            <a:r>
              <a:rPr b="1"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937487b4b_0_105"/>
          <p:cNvSpPr/>
          <p:nvPr/>
        </p:nvSpPr>
        <p:spPr>
          <a:xfrm>
            <a:off x="2926080" y="9619488"/>
            <a:ext cx="87780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Noto Sans"/>
              <a:buNone/>
            </a:pPr>
            <a:r>
              <a:rPr b="1" lang="en-US" sz="36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사실 판단·필터링은 로직이 담당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f937487b4b_0_105"/>
          <p:cNvSpPr/>
          <p:nvPr/>
        </p:nvSpPr>
        <p:spPr>
          <a:xfrm>
            <a:off x="1865376" y="10643616"/>
            <a:ext cx="9692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색상 Lab 거리, 분할선 유무, 각인 매칭 등 객관적으로 </a:t>
            </a:r>
            <a:endParaRPr sz="2800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계산 가능한 것은 전부 규칙으로 처리.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g3f937487b4b_0_105"/>
          <p:cNvSpPr/>
          <p:nvPr/>
        </p:nvSpPr>
        <p:spPr>
          <a:xfrm>
            <a:off x="12710160" y="9144000"/>
            <a:ext cx="10789800" cy="2834400"/>
          </a:xfrm>
          <a:prstGeom prst="roundRect">
            <a:avLst>
              <a:gd fmla="val 645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937487b4b_0_105"/>
          <p:cNvSpPr/>
          <p:nvPr/>
        </p:nvSpPr>
        <p:spPr>
          <a:xfrm>
            <a:off x="13258800" y="9656064"/>
            <a:ext cx="768000" cy="768000"/>
          </a:xfrm>
          <a:prstGeom prst="roundRect">
            <a:avLst>
              <a:gd fmla="val 19048" name="adj"/>
            </a:avLst>
          </a:prstGeom>
          <a:solidFill>
            <a:srgbClr val="1C7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937487b4b_0_105"/>
          <p:cNvSpPr/>
          <p:nvPr/>
        </p:nvSpPr>
        <p:spPr>
          <a:xfrm>
            <a:off x="13258800" y="9656064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oto Sans"/>
              <a:buNone/>
            </a:pPr>
            <a:r>
              <a:rPr b="1" lang="en-US" sz="3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937487b4b_0_105"/>
          <p:cNvSpPr/>
          <p:nvPr/>
        </p:nvSpPr>
        <p:spPr>
          <a:xfrm>
            <a:off x="14356080" y="9619488"/>
            <a:ext cx="87780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Noto Sans"/>
              <a:buNone/>
            </a:pPr>
            <a:r>
              <a:rPr b="1" lang="en-US" sz="3600">
                <a:solidFill>
                  <a:srgbClr val="1A1A2E"/>
                </a:solidFill>
                <a:latin typeface="Noto Sans"/>
                <a:ea typeface="Noto Sans"/>
                <a:cs typeface="Noto Sans"/>
                <a:sym typeface="Noto Sans"/>
              </a:rPr>
              <a:t>유연한 의미 해석은 LLM으로 처리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937487b4b_0_105"/>
          <p:cNvSpPr/>
          <p:nvPr/>
        </p:nvSpPr>
        <p:spPr>
          <a:xfrm>
            <a:off x="13295376" y="10643616"/>
            <a:ext cx="9692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"속쓰림 " 같은 열린 의미 연결은 </a:t>
            </a:r>
            <a:endParaRPr sz="2800">
              <a:solidFill>
                <a:srgbClr val="595959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"/>
              <a:buNone/>
            </a:pPr>
            <a:r>
              <a:rPr lang="en-US" sz="280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사전 또는 규칙으로 관리하기 보다  LLM이 맡는다.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937487b4b_0_105"/>
          <p:cNvSpPr/>
          <p:nvPr/>
        </p:nvSpPr>
        <p:spPr>
          <a:xfrm>
            <a:off x="1005840" y="12838176"/>
            <a:ext cx="109728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 · 2차 개선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937487b4b_0_105"/>
          <p:cNvSpPr/>
          <p:nvPr/>
        </p:nvSpPr>
        <p:spPr>
          <a:xfrm>
            <a:off x="22494240" y="12838176"/>
            <a:ext cx="823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800"/>
              <a:buFont typeface="Noto Sans"/>
              <a:buNone/>
            </a:pPr>
            <a:r>
              <a:rPr lang="en-US" sz="1800">
                <a:solidFill>
                  <a:srgbClr val="8A8A8A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937487b4b_0_105"/>
          <p:cNvSpPr txBox="1"/>
          <p:nvPr/>
        </p:nvSpPr>
        <p:spPr>
          <a:xfrm>
            <a:off x="16797360" y="875152"/>
            <a:ext cx="5806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</a:rPr>
              <a:t>알약 </a:t>
            </a:r>
            <a:r>
              <a:rPr b="1" lang="en-US" sz="3000"/>
              <a:t>설명 기반 챗봇</a:t>
            </a:r>
            <a:endParaRPr b="1"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3FF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937487b4b_0_136"/>
          <p:cNvSpPr/>
          <p:nvPr/>
        </p:nvSpPr>
        <p:spPr>
          <a:xfrm>
            <a:off x="0" y="0"/>
            <a:ext cx="24322800" cy="256200"/>
          </a:xfrm>
          <a:prstGeom prst="rect">
            <a:avLst/>
          </a:prstGeom>
          <a:solidFill>
            <a:srgbClr val="1550C8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937487b4b_0_136"/>
          <p:cNvSpPr/>
          <p:nvPr/>
        </p:nvSpPr>
        <p:spPr>
          <a:xfrm rot="-1199950">
            <a:off x="10698442" y="4974162"/>
            <a:ext cx="2926261" cy="1426401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937487b4b_0_136"/>
          <p:cNvSpPr/>
          <p:nvPr/>
        </p:nvSpPr>
        <p:spPr>
          <a:xfrm rot="-1200191">
            <a:off x="10698432" y="4974167"/>
            <a:ext cx="1462848" cy="1426401"/>
          </a:xfrm>
          <a:prstGeom prst="roundRect">
            <a:avLst>
              <a:gd fmla="val 50000" name="adj"/>
            </a:avLst>
          </a:prstGeom>
          <a:solidFill>
            <a:srgbClr val="BBD3FF"/>
          </a:solidFill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937487b4b_0_136"/>
          <p:cNvSpPr/>
          <p:nvPr/>
        </p:nvSpPr>
        <p:spPr>
          <a:xfrm>
            <a:off x="0" y="7260160"/>
            <a:ext cx="24322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Noto Sans"/>
              <a:buNone/>
            </a:pPr>
            <a:r>
              <a:rPr b="1" lang="en-US" sz="9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감사합니다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937487b4b_0_136"/>
          <p:cNvSpPr/>
          <p:nvPr/>
        </p:nvSpPr>
        <p:spPr>
          <a:xfrm>
            <a:off x="-118612" y="12088368"/>
            <a:ext cx="2432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E9FF"/>
              </a:buClr>
              <a:buSzPts val="3200"/>
              <a:buFont typeface="Noto Sans"/>
              <a:buNone/>
            </a:pPr>
            <a:r>
              <a:rPr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알약 식별 챗봇 · 2차 </a:t>
            </a:r>
            <a:r>
              <a:rPr lang="en-US" sz="3200">
                <a:solidFill>
                  <a:srgbClr val="DCE9FF"/>
                </a:solidFill>
                <a:latin typeface="Noto Sans"/>
                <a:ea typeface="Noto Sans"/>
                <a:cs typeface="Noto Sans"/>
                <a:sym typeface="Noto Sans"/>
              </a:rPr>
              <a:t>프로젝트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프로젝트 2팀</dc:creator>
</cp:coreProperties>
</file>