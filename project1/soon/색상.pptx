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54" r:id="rId6"/>
  </p:sldMasterIdLst>
  <p:notesMasterIdLst>
    <p:notesMasterId r:id="rId7"/>
  </p:notesMasterIdLst>
  <p:sldIdLst>
    <p:sldId id="256" r:id="rId8"/>
  </p:sldIdLst>
  <p:sldSz cy="6858000" cx="9906000"/>
  <p:notesSz cx="9926625" cy="6797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18">
          <p15:clr>
            <a:srgbClr val="A4A3A4"/>
          </p15:clr>
        </p15:guide>
        <p15:guide id="2" orient="horz" pos="300">
          <p15:clr>
            <a:srgbClr val="A4A3A4"/>
          </p15:clr>
        </p15:guide>
        <p15:guide id="3" orient="horz" pos="2614">
          <p15:clr>
            <a:srgbClr val="A4A3A4"/>
          </p15:clr>
        </p15:guide>
        <p15:guide id="4" orient="horz" pos="119">
          <p15:clr>
            <a:srgbClr val="A4A3A4"/>
          </p15:clr>
        </p15:guide>
        <p15:guide id="5" orient="horz" pos="799">
          <p15:clr>
            <a:srgbClr val="A4A3A4"/>
          </p15:clr>
        </p15:guide>
        <p15:guide id="6" orient="horz" pos="3974">
          <p15:clr>
            <a:srgbClr val="A4A3A4"/>
          </p15:clr>
        </p15:guide>
        <p15:guide id="7" orient="horz" pos="3249">
          <p15:clr>
            <a:srgbClr val="A4A3A4"/>
          </p15:clr>
        </p15:guide>
        <p15:guide id="8" pos="217">
          <p15:clr>
            <a:srgbClr val="A4A3A4"/>
          </p15:clr>
        </p15:guide>
        <p15:guide id="9" pos="6023">
          <p15:clr>
            <a:srgbClr val="A4A3A4"/>
          </p15:clr>
        </p15:guide>
        <p15:guide id="10" pos="398">
          <p15:clr>
            <a:srgbClr val="A4A3A4"/>
          </p15:clr>
        </p15:guide>
        <p15:guide id="11" pos="5252">
          <p15:clr>
            <a:srgbClr val="A4A3A4"/>
          </p15:clr>
        </p15:guide>
      </p15:sldGuideLst>
    </p:ext>
    <p:ext uri="{2D200454-40CA-4A62-9FC3-DE9A4176ACB9}">
      <p15:notesGuideLst>
        <p15:guide id="1" orient="horz" pos="2142">
          <p15:clr>
            <a:srgbClr val="A4A3A4"/>
          </p15:clr>
        </p15:guide>
        <p15:guide id="2" pos="3127">
          <p15:clr>
            <a:srgbClr val="A4A3A4"/>
          </p15:clr>
        </p15:guide>
      </p15:notesGuideLst>
    </p:ext>
    <p:ext uri="GoogleSlidesCustomDataVersion2">
      <go:slidesCustomData xmlns:go="http://customooxmlschemas.google.com/" r:id="rId9" roundtripDataSignature="AMtx7mjigzKbXf9qtWZwnvT+7G3shGml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A73D70-0CE8-44A2-AA5D-19E5A7EAC4D5}">
  <a:tblStyle styleId="{94A73D70-0CE8-44A2-AA5D-19E5A7EAC4D5}" styleName="Table_0">
    <a:wholeTbl>
      <a:tcTxStyle b="off" i="off">
        <a:font>
          <a:latin typeface="굴림"/>
          <a:ea typeface="굴림"/>
          <a:cs typeface="굴림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3"/>
          </a:solidFill>
        </a:fill>
      </a:tcStyle>
    </a:wholeTbl>
    <a:band1H>
      <a:tcTxStyle/>
      <a:tcStyle>
        <a:fill>
          <a:solidFill>
            <a:schemeClr val="accent3"/>
          </a:solidFill>
        </a:fill>
      </a:tcStyle>
    </a:band1H>
    <a:band2H>
      <a:tcTxStyle/>
    </a:band2H>
    <a:band1V>
      <a:tcTxStyle/>
      <a:tcStyle>
        <a:fill>
          <a:solidFill>
            <a:schemeClr val="accent3"/>
          </a:solidFill>
        </a:fill>
      </a:tcStyle>
    </a:band1V>
    <a:band2V>
      <a:tcTxStyle/>
    </a:band2V>
    <a:lastCol>
      <a:tcTxStyle b="on" i="off">
        <a:font>
          <a:latin typeface="굴림"/>
          <a:ea typeface="굴림"/>
          <a:cs typeface="굴림"/>
        </a:font>
        <a:schemeClr val="lt1"/>
      </a:tcTxStyle>
      <a:tcStyle>
        <a:fill>
          <a:solidFill>
            <a:schemeClr val="accent3"/>
          </a:solidFill>
        </a:fill>
      </a:tcStyle>
    </a:lastCol>
    <a:firstCol>
      <a:tcTxStyle b="on" i="off">
        <a:font>
          <a:latin typeface="굴림"/>
          <a:ea typeface="굴림"/>
          <a:cs typeface="굴림"/>
        </a:font>
        <a:schemeClr val="lt1"/>
      </a:tcTxStyle>
      <a:tcStyle>
        <a:fill>
          <a:solidFill>
            <a:schemeClr val="accent3"/>
          </a:solidFill>
        </a:fill>
      </a:tcStyle>
    </a:firstCol>
    <a:lastRow>
      <a:tcTxStyle b="on" i="off">
        <a:font>
          <a:latin typeface="굴림"/>
          <a:ea typeface="굴림"/>
          <a:cs typeface="굴림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3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굴림"/>
          <a:ea typeface="굴림"/>
          <a:cs typeface="굴림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18" orient="horz"/>
        <p:guide pos="300" orient="horz"/>
        <p:guide pos="2614" orient="horz"/>
        <p:guide pos="119" orient="horz"/>
        <p:guide pos="799" orient="horz"/>
        <p:guide pos="3974" orient="horz"/>
        <p:guide pos="3249" orient="horz"/>
        <p:guide pos="217"/>
        <p:guide pos="6023"/>
        <p:guide pos="398"/>
        <p:guide pos="5252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42" orient="horz"/>
        <p:guide pos="3127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2" y="4"/>
            <a:ext cx="4301385" cy="339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50" lIns="91525" spcFirstLastPara="1" rIns="91525" wrap="square" tIns="457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23672" y="4"/>
            <a:ext cx="4301383" cy="339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50" lIns="91525" spcFirstLastPara="1" rIns="91525" wrap="square" tIns="457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122613" y="509588"/>
            <a:ext cx="3681412" cy="2549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94091" y="3228380"/>
            <a:ext cx="7940042" cy="3058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50" lIns="91525" spcFirstLastPara="1" rIns="91525" wrap="square" tIns="4575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2" y="6456763"/>
            <a:ext cx="4301385" cy="3393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50" lIns="91525" spcFirstLastPara="1" rIns="91525" wrap="square" tIns="457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23672" y="6456763"/>
            <a:ext cx="4301383" cy="3393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50" lIns="91525" spcFirstLastPara="1" rIns="91525" wrap="square" tIns="457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:notes"/>
          <p:cNvSpPr txBox="1"/>
          <p:nvPr>
            <p:ph idx="1" type="body"/>
          </p:nvPr>
        </p:nvSpPr>
        <p:spPr>
          <a:xfrm>
            <a:off x="994091" y="3228380"/>
            <a:ext cx="7940042" cy="3058716"/>
          </a:xfrm>
          <a:prstGeom prst="rect">
            <a:avLst/>
          </a:prstGeom>
        </p:spPr>
        <p:txBody>
          <a:bodyPr anchorCtr="0" anchor="t" bIns="45750" lIns="91525" spcFirstLastPara="1" rIns="91525" wrap="square" tIns="457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2:notes"/>
          <p:cNvSpPr/>
          <p:nvPr>
            <p:ph idx="2" type="sldImg"/>
          </p:nvPr>
        </p:nvSpPr>
        <p:spPr>
          <a:xfrm>
            <a:off x="3122613" y="509588"/>
            <a:ext cx="3681412" cy="2549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제목 및 내용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 txBox="1"/>
          <p:nvPr/>
        </p:nvSpPr>
        <p:spPr>
          <a:xfrm>
            <a:off x="6669904" y="5014917"/>
            <a:ext cx="26698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국립부경대학교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K-디지털트레이닝훈련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oogle Shape;22;p24"/>
          <p:cNvGraphicFramePr/>
          <p:nvPr/>
        </p:nvGraphicFramePr>
        <p:xfrm>
          <a:off x="1" y="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{94A73D70-0CE8-44A2-AA5D-19E5A7EAC4D5}</a:tableStyleId>
              </a:tblPr>
              <a:tblGrid>
                <a:gridCol w="1238225"/>
              </a:tblGrid>
              <a:tr h="128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" name="Google Shape;23;p24"/>
          <p:cNvSpPr txBox="1"/>
          <p:nvPr/>
        </p:nvSpPr>
        <p:spPr>
          <a:xfrm>
            <a:off x="4024306" y="1214422"/>
            <a:ext cx="12779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목  차</a:t>
            </a:r>
            <a:endParaRPr/>
          </a:p>
        </p:txBody>
      </p:sp>
      <p:cxnSp>
        <p:nvCxnSpPr>
          <p:cNvPr id="24" name="Google Shape;24;p24"/>
          <p:cNvCxnSpPr/>
          <p:nvPr/>
        </p:nvCxnSpPr>
        <p:spPr>
          <a:xfrm rot="5400000">
            <a:off x="2846373" y="3749677"/>
            <a:ext cx="3643338" cy="1588"/>
          </a:xfrm>
          <a:prstGeom prst="straightConnector1">
            <a:avLst/>
          </a:prstGeom>
          <a:noFill/>
          <a:ln cap="flat" cmpd="sng" w="63500">
            <a:solidFill>
              <a:srgbClr val="CC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24"/>
          <p:cNvCxnSpPr/>
          <p:nvPr/>
        </p:nvCxnSpPr>
        <p:spPr>
          <a:xfrm rot="5400000">
            <a:off x="2917811" y="4106867"/>
            <a:ext cx="3643338" cy="1588"/>
          </a:xfrm>
          <a:prstGeom prst="straightConnector1">
            <a:avLst/>
          </a:prstGeom>
          <a:noFill/>
          <a:ln cap="flat" cmpd="sng" w="63500">
            <a:solidFill>
              <a:srgbClr val="FFCC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24"/>
          <p:cNvSpPr txBox="1"/>
          <p:nvPr/>
        </p:nvSpPr>
        <p:spPr>
          <a:xfrm>
            <a:off x="1481902" y="2285992"/>
            <a:ext cx="2225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편리함을 위한</a:t>
            </a: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000">
                <a:solidFill>
                  <a:srgbClr val="669900"/>
                </a:solidFill>
                <a:latin typeface="Arial"/>
                <a:ea typeface="Arial"/>
                <a:cs typeface="Arial"/>
                <a:sym typeface="Arial"/>
              </a:rPr>
              <a:t>AI 서비스</a:t>
            </a:r>
            <a:endParaRPr/>
          </a:p>
        </p:txBody>
      </p:sp>
      <p:sp>
        <p:nvSpPr>
          <p:cNvPr id="27" name="Google Shape;27;p24"/>
          <p:cNvSpPr/>
          <p:nvPr/>
        </p:nvSpPr>
        <p:spPr>
          <a:xfrm>
            <a:off x="8667776" y="642918"/>
            <a:ext cx="642942" cy="4929222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graphicFrame>
        <p:nvGraphicFramePr>
          <p:cNvPr id="28" name="Google Shape;28;p24"/>
          <p:cNvGraphicFramePr/>
          <p:nvPr/>
        </p:nvGraphicFramePr>
        <p:xfrm>
          <a:off x="1610096" y="30003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{94A73D70-0CE8-44A2-AA5D-19E5A7EAC4D5}</a:tableStyleId>
              </a:tblPr>
              <a:tblGrid>
                <a:gridCol w="1585900"/>
              </a:tblGrid>
              <a:tr h="171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" name="Google Shape;29;p24"/>
          <p:cNvSpPr txBox="1"/>
          <p:nvPr/>
        </p:nvSpPr>
        <p:spPr>
          <a:xfrm>
            <a:off x="7833320" y="6669360"/>
            <a:ext cx="2091501" cy="225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Gulim"/>
              <a:buNone/>
            </a:pPr>
            <a:r>
              <a:rPr b="1" lang="ko-KR" sz="900">
                <a:solidFill>
                  <a:srgbClr val="003366"/>
                </a:solidFill>
                <a:latin typeface="Malgun Gothic"/>
                <a:ea typeface="Malgun Gothic"/>
                <a:cs typeface="Malgun Gothic"/>
                <a:sym typeface="Malgun Gothic"/>
              </a:rPr>
              <a:t>K-디지털트레이닝훈련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세로 제목 및 텍스트">
  <p:cSld name="1_세로 제목 및 텍스트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5"/>
          <p:cNvSpPr txBox="1"/>
          <p:nvPr/>
        </p:nvSpPr>
        <p:spPr>
          <a:xfrm>
            <a:off x="0" y="109518"/>
            <a:ext cx="9346301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</a:pPr>
            <a:r>
              <a:t/>
            </a:r>
            <a:endParaRPr b="0" i="0" sz="1600" u="none" cap="none" strike="noStrike">
              <a:solidFill>
                <a:srgbClr val="0066FF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32" name="Google Shape;32;p25"/>
          <p:cNvSpPr/>
          <p:nvPr/>
        </p:nvSpPr>
        <p:spPr>
          <a:xfrm>
            <a:off x="8667776" y="642918"/>
            <a:ext cx="642942" cy="4929222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33" name="Google Shape;33;p25"/>
          <p:cNvSpPr txBox="1"/>
          <p:nvPr/>
        </p:nvSpPr>
        <p:spPr>
          <a:xfrm>
            <a:off x="7833320" y="6669360"/>
            <a:ext cx="2091501" cy="225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Gulim"/>
              <a:buNone/>
            </a:pPr>
            <a:r>
              <a:rPr b="1" lang="ko-KR" sz="900">
                <a:solidFill>
                  <a:srgbClr val="003366"/>
                </a:solidFill>
                <a:latin typeface="Malgun Gothic"/>
                <a:ea typeface="Malgun Gothic"/>
                <a:cs typeface="Malgun Gothic"/>
                <a:sym typeface="Malgun Gothic"/>
              </a:rPr>
              <a:t>K-디지털트레이닝훈련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 및 내용">
  <p:cSld name="2_제목 및 내용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Google Shape;35;p34"/>
          <p:cNvGraphicFramePr/>
          <p:nvPr/>
        </p:nvGraphicFramePr>
        <p:xfrm>
          <a:off x="1" y="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{94A73D70-0CE8-44A2-AA5D-19E5A7EAC4D5}</a:tableStyleId>
              </a:tblPr>
              <a:tblGrid>
                <a:gridCol w="1238225"/>
              </a:tblGrid>
              <a:tr h="128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6" name="Google Shape;36;p34"/>
          <p:cNvCxnSpPr/>
          <p:nvPr/>
        </p:nvCxnSpPr>
        <p:spPr>
          <a:xfrm rot="5400000">
            <a:off x="2846373" y="3749677"/>
            <a:ext cx="3643338" cy="1588"/>
          </a:xfrm>
          <a:prstGeom prst="straightConnector1">
            <a:avLst/>
          </a:prstGeom>
          <a:noFill/>
          <a:ln cap="flat" cmpd="sng" w="63500">
            <a:solidFill>
              <a:srgbClr val="CC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34"/>
          <p:cNvCxnSpPr/>
          <p:nvPr/>
        </p:nvCxnSpPr>
        <p:spPr>
          <a:xfrm rot="5400000">
            <a:off x="2917811" y="4106867"/>
            <a:ext cx="3643338" cy="1588"/>
          </a:xfrm>
          <a:prstGeom prst="straightConnector1">
            <a:avLst/>
          </a:prstGeom>
          <a:noFill/>
          <a:ln cap="flat" cmpd="sng" w="63500">
            <a:solidFill>
              <a:srgbClr val="FFCC66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8" name="Google Shape;38;p34"/>
          <p:cNvGraphicFramePr/>
          <p:nvPr/>
        </p:nvGraphicFramePr>
        <p:xfrm>
          <a:off x="1610096" y="30003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{94A73D70-0CE8-44A2-AA5D-19E5A7EAC4D5}</a:tableStyleId>
              </a:tblPr>
              <a:tblGrid>
                <a:gridCol w="1585900"/>
              </a:tblGrid>
              <a:tr h="171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" name="Google Shape;39;p34"/>
          <p:cNvSpPr/>
          <p:nvPr/>
        </p:nvSpPr>
        <p:spPr>
          <a:xfrm>
            <a:off x="8667776" y="642918"/>
            <a:ext cx="642942" cy="4929222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40" name="Google Shape;40;p34"/>
          <p:cNvSpPr txBox="1"/>
          <p:nvPr/>
        </p:nvSpPr>
        <p:spPr>
          <a:xfrm>
            <a:off x="1481902" y="2285992"/>
            <a:ext cx="22252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편리함을 위한</a:t>
            </a:r>
            <a:r>
              <a:rPr 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000">
                <a:solidFill>
                  <a:srgbClr val="669900"/>
                </a:solidFill>
                <a:latin typeface="Arial"/>
                <a:ea typeface="Arial"/>
                <a:cs typeface="Arial"/>
                <a:sym typeface="Arial"/>
              </a:rPr>
              <a:t>AI 서비스</a:t>
            </a:r>
            <a:endParaRPr/>
          </a:p>
        </p:txBody>
      </p:sp>
      <p:sp>
        <p:nvSpPr>
          <p:cNvPr id="41" name="Google Shape;41;p34"/>
          <p:cNvSpPr txBox="1"/>
          <p:nvPr/>
        </p:nvSpPr>
        <p:spPr>
          <a:xfrm>
            <a:off x="7833320" y="6669360"/>
            <a:ext cx="2091501" cy="225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Gulim"/>
              <a:buNone/>
            </a:pPr>
            <a:r>
              <a:rPr b="1" lang="ko-KR" sz="900">
                <a:solidFill>
                  <a:srgbClr val="003366"/>
                </a:solidFill>
                <a:latin typeface="Malgun Gothic"/>
                <a:ea typeface="Malgun Gothic"/>
                <a:cs typeface="Malgun Gothic"/>
                <a:sym typeface="Malgun Gothic"/>
              </a:rPr>
              <a:t>K-디지털트레이닝훈련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>
  <p:cSld name="세로 제목 및 텍스트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5"/>
          <p:cNvSpPr/>
          <p:nvPr/>
        </p:nvSpPr>
        <p:spPr>
          <a:xfrm>
            <a:off x="8667776" y="642918"/>
            <a:ext cx="642942" cy="4929222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44" name="Google Shape;44;p35"/>
          <p:cNvSpPr txBox="1"/>
          <p:nvPr/>
        </p:nvSpPr>
        <p:spPr>
          <a:xfrm>
            <a:off x="7833320" y="6669360"/>
            <a:ext cx="2091501" cy="225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Gulim"/>
              <a:buNone/>
            </a:pPr>
            <a:r>
              <a:rPr b="1" lang="ko-KR" sz="900">
                <a:solidFill>
                  <a:srgbClr val="003366"/>
                </a:solidFill>
                <a:latin typeface="Malgun Gothic"/>
                <a:ea typeface="Malgun Gothic"/>
                <a:cs typeface="Malgun Gothic"/>
                <a:sym typeface="Malgun Gothic"/>
              </a:rPr>
              <a:t>K-디지털트레이닝훈련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제목 및 내용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/>
          <p:nvPr/>
        </p:nvSpPr>
        <p:spPr>
          <a:xfrm>
            <a:off x="9310718" y="0"/>
            <a:ext cx="595282" cy="6858000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11;p22"/>
          <p:cNvSpPr/>
          <p:nvPr/>
        </p:nvSpPr>
        <p:spPr>
          <a:xfrm>
            <a:off x="0" y="0"/>
            <a:ext cx="3309926" cy="64291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2" name="Google Shape;12;p22"/>
          <p:cNvSpPr/>
          <p:nvPr/>
        </p:nvSpPr>
        <p:spPr>
          <a:xfrm>
            <a:off x="881034" y="0"/>
            <a:ext cx="9024966" cy="64291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3" name="Google Shape;13;p22"/>
          <p:cNvSpPr txBox="1"/>
          <p:nvPr/>
        </p:nvSpPr>
        <p:spPr>
          <a:xfrm>
            <a:off x="4667248" y="6642580"/>
            <a:ext cx="642942" cy="215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Garden.jpg" id="14" name="Google Shape;14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881958" y="5572140"/>
            <a:ext cx="2024042" cy="128586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2"/>
          <p:cNvSpPr/>
          <p:nvPr/>
        </p:nvSpPr>
        <p:spPr>
          <a:xfrm>
            <a:off x="7453330" y="5572140"/>
            <a:ext cx="1214446" cy="1285860"/>
          </a:xfrm>
          <a:prstGeom prst="rect">
            <a:avLst/>
          </a:prstGeom>
          <a:gradFill>
            <a:gsLst>
              <a:gs pos="0">
                <a:srgbClr val="FFFFFF">
                  <a:alpha val="83921"/>
                </a:srgbClr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6" name="Google Shape;16;p22"/>
          <p:cNvSpPr/>
          <p:nvPr/>
        </p:nvSpPr>
        <p:spPr>
          <a:xfrm>
            <a:off x="7881958" y="5572140"/>
            <a:ext cx="2024042" cy="571480"/>
          </a:xfrm>
          <a:prstGeom prst="rect">
            <a:avLst/>
          </a:prstGeom>
          <a:gradFill>
            <a:gsLst>
              <a:gs pos="0">
                <a:srgbClr val="FFFFFF">
                  <a:alpha val="70196"/>
                </a:srgbClr>
              </a:gs>
              <a:gs pos="88000">
                <a:srgbClr val="FFFFFF">
                  <a:alpha val="70196"/>
                </a:srgbClr>
              </a:gs>
              <a:gs pos="95000">
                <a:srgbClr val="FFFFFF">
                  <a:alpha val="40000"/>
                </a:srgbClr>
              </a:gs>
              <a:gs pos="100000">
                <a:srgbClr val="FFFFFF">
                  <a:alpha val="40000"/>
                </a:srgbClr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7" name="Google Shape;17;p22"/>
          <p:cNvSpPr txBox="1"/>
          <p:nvPr/>
        </p:nvSpPr>
        <p:spPr>
          <a:xfrm>
            <a:off x="206" y="142852"/>
            <a:ext cx="27205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교육용</a:t>
            </a:r>
            <a:endParaRPr/>
          </a:p>
        </p:txBody>
      </p:sp>
      <p:sp>
        <p:nvSpPr>
          <p:cNvPr id="18" name="Google Shape;18;p22"/>
          <p:cNvSpPr/>
          <p:nvPr/>
        </p:nvSpPr>
        <p:spPr>
          <a:xfrm>
            <a:off x="0" y="6643710"/>
            <a:ext cx="9906000" cy="214290"/>
          </a:xfrm>
          <a:prstGeom prst="rect">
            <a:avLst/>
          </a:prstGeom>
          <a:gradFill>
            <a:gsLst>
              <a:gs pos="0">
                <a:srgbClr val="99CCFF">
                  <a:alpha val="43137"/>
                </a:srgbClr>
              </a:gs>
              <a:gs pos="45000">
                <a:srgbClr val="99CCFF">
                  <a:alpha val="43137"/>
                </a:srgbClr>
              </a:gs>
              <a:gs pos="73000">
                <a:srgbClr val="99CCFF">
                  <a:alpha val="36862"/>
                </a:srgbClr>
              </a:gs>
              <a:gs pos="100000">
                <a:srgbClr val="99CCFF">
                  <a:alpha val="36862"/>
                </a:srgbClr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/>
          <p:nvPr/>
        </p:nvSpPr>
        <p:spPr>
          <a:xfrm>
            <a:off x="8715436" y="0"/>
            <a:ext cx="595282" cy="6858000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47" name="Google Shape;47;p28"/>
          <p:cNvSpPr/>
          <p:nvPr/>
        </p:nvSpPr>
        <p:spPr>
          <a:xfrm>
            <a:off x="9310718" y="0"/>
            <a:ext cx="595282" cy="6858000"/>
          </a:xfrm>
          <a:prstGeom prst="rect">
            <a:avLst/>
          </a:prstGeom>
          <a:solidFill>
            <a:srgbClr val="CC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48" name="Google Shape;48;p28"/>
          <p:cNvSpPr/>
          <p:nvPr/>
        </p:nvSpPr>
        <p:spPr>
          <a:xfrm>
            <a:off x="0" y="0"/>
            <a:ext cx="3309926" cy="642918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49" name="Google Shape;49;p28"/>
          <p:cNvSpPr/>
          <p:nvPr/>
        </p:nvSpPr>
        <p:spPr>
          <a:xfrm>
            <a:off x="881034" y="0"/>
            <a:ext cx="9024966" cy="642918"/>
          </a:xfrm>
          <a:prstGeom prst="rect">
            <a:avLst/>
          </a:prstGeom>
          <a:solidFill>
            <a:srgbClr val="66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50" name="Google Shape;50;p28"/>
          <p:cNvSpPr txBox="1"/>
          <p:nvPr/>
        </p:nvSpPr>
        <p:spPr>
          <a:xfrm>
            <a:off x="4667248" y="6642580"/>
            <a:ext cx="642942" cy="215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Garden.jpg" id="51" name="Google Shape;51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881958" y="5572140"/>
            <a:ext cx="2024042" cy="128586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8"/>
          <p:cNvSpPr/>
          <p:nvPr/>
        </p:nvSpPr>
        <p:spPr>
          <a:xfrm>
            <a:off x="7524768" y="5572140"/>
            <a:ext cx="1190354" cy="1285860"/>
          </a:xfrm>
          <a:prstGeom prst="rect">
            <a:avLst/>
          </a:prstGeom>
          <a:gradFill>
            <a:gsLst>
              <a:gs pos="0">
                <a:srgbClr val="FFFFFF">
                  <a:alpha val="83921"/>
                </a:srgbClr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53" name="Google Shape;53;p28"/>
          <p:cNvSpPr/>
          <p:nvPr/>
        </p:nvSpPr>
        <p:spPr>
          <a:xfrm>
            <a:off x="7881958" y="5572140"/>
            <a:ext cx="2024042" cy="571480"/>
          </a:xfrm>
          <a:prstGeom prst="rect">
            <a:avLst/>
          </a:prstGeom>
          <a:gradFill>
            <a:gsLst>
              <a:gs pos="0">
                <a:srgbClr val="FFFFFF">
                  <a:alpha val="70196"/>
                </a:srgbClr>
              </a:gs>
              <a:gs pos="88000">
                <a:srgbClr val="FFFFFF">
                  <a:alpha val="70196"/>
                </a:srgbClr>
              </a:gs>
              <a:gs pos="95000">
                <a:srgbClr val="FFFFFF">
                  <a:alpha val="40000"/>
                </a:srgbClr>
              </a:gs>
              <a:gs pos="100000">
                <a:srgbClr val="FFFFFF">
                  <a:alpha val="40000"/>
                </a:srgbClr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54" name="Google Shape;54;p28"/>
          <p:cNvSpPr/>
          <p:nvPr/>
        </p:nvSpPr>
        <p:spPr>
          <a:xfrm>
            <a:off x="-13326" y="6644951"/>
            <a:ext cx="9906000" cy="214290"/>
          </a:xfrm>
          <a:prstGeom prst="rect">
            <a:avLst/>
          </a:prstGeom>
          <a:gradFill>
            <a:gsLst>
              <a:gs pos="0">
                <a:srgbClr val="99CCFF">
                  <a:alpha val="43137"/>
                </a:srgbClr>
              </a:gs>
              <a:gs pos="45000">
                <a:srgbClr val="99CCFF">
                  <a:alpha val="43137"/>
                </a:srgbClr>
              </a:gs>
              <a:gs pos="73000">
                <a:srgbClr val="99CCFF">
                  <a:alpha val="36862"/>
                </a:srgbClr>
              </a:gs>
              <a:gs pos="100000">
                <a:srgbClr val="99CCFF">
                  <a:alpha val="36862"/>
                </a:srgbClr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55" name="Google Shape;55;p28"/>
          <p:cNvSpPr txBox="1"/>
          <p:nvPr/>
        </p:nvSpPr>
        <p:spPr>
          <a:xfrm>
            <a:off x="0" y="109518"/>
            <a:ext cx="9849544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</a:pPr>
            <a:r>
              <a:t/>
            </a:r>
            <a:endParaRPr b="0" i="0" sz="1600" u="none" cap="none" strike="noStrike">
              <a:solidFill>
                <a:srgbClr val="0066FF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56" name="Google Shape;56;p28"/>
          <p:cNvSpPr/>
          <p:nvPr/>
        </p:nvSpPr>
        <p:spPr>
          <a:xfrm>
            <a:off x="8739214" y="5572164"/>
            <a:ext cx="1166786" cy="1285860"/>
          </a:xfrm>
          <a:prstGeom prst="rect">
            <a:avLst/>
          </a:prstGeom>
          <a:solidFill>
            <a:srgbClr val="CCCC00">
              <a:alpha val="2705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57" name="Google Shape;57;p28"/>
          <p:cNvSpPr txBox="1"/>
          <p:nvPr/>
        </p:nvSpPr>
        <p:spPr>
          <a:xfrm>
            <a:off x="206" y="142852"/>
            <a:ext cx="27205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교육용</a:t>
            </a:r>
            <a:endParaRPr/>
          </a:p>
        </p:txBody>
      </p:sp>
      <p:sp>
        <p:nvSpPr>
          <p:cNvPr id="58" name="Google Shape;58;p28"/>
          <p:cNvSpPr txBox="1"/>
          <p:nvPr/>
        </p:nvSpPr>
        <p:spPr>
          <a:xfrm>
            <a:off x="7833320" y="6669360"/>
            <a:ext cx="2091501" cy="225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Gulim"/>
              <a:buNone/>
            </a:pPr>
            <a:r>
              <a:rPr b="1" lang="ko-KR" sz="900">
                <a:solidFill>
                  <a:srgbClr val="003366"/>
                </a:solidFill>
                <a:latin typeface="Malgun Gothic"/>
                <a:ea typeface="Malgun Gothic"/>
                <a:cs typeface="Malgun Gothic"/>
                <a:sym typeface="Malgun Gothic"/>
              </a:rPr>
              <a:t>K-디지털트레이닝훈련</a:t>
            </a:r>
            <a:endParaRPr/>
          </a:p>
        </p:txBody>
      </p:sp>
      <p:sp>
        <p:nvSpPr>
          <p:cNvPr id="59" name="Google Shape;59;p28"/>
          <p:cNvSpPr txBox="1"/>
          <p:nvPr/>
        </p:nvSpPr>
        <p:spPr>
          <a:xfrm>
            <a:off x="7545288" y="280472"/>
            <a:ext cx="23607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rgbClr val="0066FF"/>
                </a:solidFill>
                <a:latin typeface="Arial"/>
                <a:ea typeface="Arial"/>
                <a:cs typeface="Arial"/>
                <a:sym typeface="Arial"/>
              </a:rPr>
              <a:t>Ⅲ. 수행절차</a:t>
            </a:r>
            <a:endParaRPr sz="1800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20" y="1775792"/>
            <a:ext cx="2520280" cy="1753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65461" y="3569894"/>
            <a:ext cx="2487938" cy="1179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03591" y="1715361"/>
            <a:ext cx="2520279" cy="29377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2"/>
          <p:cNvSpPr txBox="1"/>
          <p:nvPr/>
        </p:nvSpPr>
        <p:spPr>
          <a:xfrm>
            <a:off x="539552" y="851128"/>
            <a:ext cx="31117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▣ 설계 </a:t>
            </a:r>
            <a:r>
              <a:rPr b="1" lang="ko-KR" sz="1800">
                <a:solidFill>
                  <a:srgbClr val="6699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b="1" lang="ko-KR" sz="1600">
                <a:solidFill>
                  <a:srgbClr val="669900"/>
                </a:solidFill>
                <a:latin typeface="Arial"/>
                <a:ea typeface="Arial"/>
                <a:cs typeface="Arial"/>
                <a:sym typeface="Arial"/>
              </a:rPr>
              <a:t>알약 색깔 판별 모델</a:t>
            </a:r>
            <a:endParaRPr/>
          </a:p>
        </p:txBody>
      </p:sp>
      <p:sp>
        <p:nvSpPr>
          <p:cNvPr id="69" name="Google Shape;69;p12"/>
          <p:cNvSpPr/>
          <p:nvPr/>
        </p:nvSpPr>
        <p:spPr>
          <a:xfrm>
            <a:off x="3114159" y="1700808"/>
            <a:ext cx="2520279" cy="3077106"/>
          </a:xfrm>
          <a:prstGeom prst="rect">
            <a:avLst/>
          </a:prstGeom>
          <a:noFill/>
          <a:ln cap="flat" cmpd="sng" w="25400">
            <a:solidFill>
              <a:srgbClr val="CDC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70" name="Google Shape;70;p12"/>
          <p:cNvSpPr txBox="1"/>
          <p:nvPr/>
        </p:nvSpPr>
        <p:spPr>
          <a:xfrm>
            <a:off x="3371460" y="1331476"/>
            <a:ext cx="215760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rgbClr val="6A6ACE"/>
                </a:solidFill>
                <a:latin typeface="Arial"/>
                <a:ea typeface="Arial"/>
                <a:cs typeface="Arial"/>
                <a:sym typeface="Arial"/>
              </a:rPr>
              <a:t>② 분류 색깔 </a:t>
            </a:r>
            <a:r>
              <a:rPr b="1" lang="ko-KR" sz="1600">
                <a:solidFill>
                  <a:srgbClr val="99CC00"/>
                </a:solidFill>
                <a:latin typeface="Arial"/>
                <a:ea typeface="Arial"/>
                <a:cs typeface="Arial"/>
                <a:sym typeface="Arial"/>
              </a:rPr>
              <a:t>학습</a:t>
            </a:r>
            <a:endParaRPr sz="1600">
              <a:solidFill>
                <a:srgbClr val="99CC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2"/>
          <p:cNvSpPr/>
          <p:nvPr/>
        </p:nvSpPr>
        <p:spPr>
          <a:xfrm>
            <a:off x="6033120" y="1700808"/>
            <a:ext cx="2520279" cy="3077106"/>
          </a:xfrm>
          <a:prstGeom prst="rect">
            <a:avLst/>
          </a:prstGeom>
          <a:noFill/>
          <a:ln cap="flat" cmpd="sng" w="25400">
            <a:solidFill>
              <a:srgbClr val="CDC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72" name="Google Shape;72;p12"/>
          <p:cNvSpPr txBox="1"/>
          <p:nvPr/>
        </p:nvSpPr>
        <p:spPr>
          <a:xfrm>
            <a:off x="6290421" y="1331476"/>
            <a:ext cx="2118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rgbClr val="6A6ACE"/>
                </a:solidFill>
                <a:latin typeface="Arial"/>
                <a:ea typeface="Arial"/>
                <a:cs typeface="Arial"/>
                <a:sym typeface="Arial"/>
              </a:rPr>
              <a:t>③ 알약 색깔 </a:t>
            </a:r>
            <a:r>
              <a:rPr b="1" lang="ko-KR" sz="1600">
                <a:solidFill>
                  <a:srgbClr val="99CC00"/>
                </a:solidFill>
                <a:latin typeface="Arial"/>
                <a:ea typeface="Arial"/>
                <a:cs typeface="Arial"/>
                <a:sym typeface="Arial"/>
              </a:rPr>
              <a:t>예측</a:t>
            </a:r>
            <a:endParaRPr sz="1600">
              <a:solidFill>
                <a:srgbClr val="99CC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2"/>
          <p:cNvSpPr/>
          <p:nvPr/>
        </p:nvSpPr>
        <p:spPr>
          <a:xfrm>
            <a:off x="195199" y="1700808"/>
            <a:ext cx="2520279" cy="3077106"/>
          </a:xfrm>
          <a:prstGeom prst="rect">
            <a:avLst/>
          </a:prstGeom>
          <a:noFill/>
          <a:ln cap="flat" cmpd="sng" w="25400">
            <a:solidFill>
              <a:srgbClr val="CDC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74" name="Google Shape;74;p12"/>
          <p:cNvSpPr txBox="1"/>
          <p:nvPr/>
        </p:nvSpPr>
        <p:spPr>
          <a:xfrm>
            <a:off x="452500" y="1331476"/>
            <a:ext cx="205222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rgbClr val="6A6ACE"/>
                </a:solidFill>
                <a:latin typeface="Arial"/>
                <a:ea typeface="Arial"/>
                <a:cs typeface="Arial"/>
                <a:sym typeface="Arial"/>
              </a:rPr>
              <a:t>① 알약 색깔 </a:t>
            </a:r>
            <a:r>
              <a:rPr b="1" lang="ko-KR" sz="1600">
                <a:solidFill>
                  <a:srgbClr val="99CC00"/>
                </a:solidFill>
                <a:latin typeface="Arial"/>
                <a:ea typeface="Arial"/>
                <a:cs typeface="Arial"/>
                <a:sym typeface="Arial"/>
              </a:rPr>
              <a:t>분류</a:t>
            </a:r>
            <a:endParaRPr sz="1600">
              <a:solidFill>
                <a:srgbClr val="99CC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2"/>
          <p:cNvSpPr txBox="1"/>
          <p:nvPr/>
        </p:nvSpPr>
        <p:spPr>
          <a:xfrm>
            <a:off x="195198" y="4883676"/>
            <a:ext cx="2520279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이미지 불러오기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대표 색상 추출(K-means 활용)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색상 계열 판별(CIELAB 변환, ΔE 거리계산, 색깔 계열별 분류)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이미지 복사 및 정리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결과출력</a:t>
            </a:r>
            <a:endParaRPr/>
          </a:p>
        </p:txBody>
      </p:sp>
      <p:sp>
        <p:nvSpPr>
          <p:cNvPr id="76" name="Google Shape;76;p12"/>
          <p:cNvSpPr txBox="1"/>
          <p:nvPr/>
        </p:nvSpPr>
        <p:spPr>
          <a:xfrm>
            <a:off x="3114159" y="4883676"/>
            <a:ext cx="2520280" cy="161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데이터 준비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모델생성 또는 불러오기(기존 저장된 모델 있으면 불러와 학습)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모델 학습(정확도, 손실 기록)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모델 평가(훈련,검증,테스트 데이터셋 평가)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모델 저장((.h5 파일로 저장)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시각화(학습 정확도와 손실 변화를 그래프 표시</a:t>
            </a:r>
            <a:endParaRPr/>
          </a:p>
        </p:txBody>
      </p:sp>
      <p:sp>
        <p:nvSpPr>
          <p:cNvPr id="77" name="Google Shape;77;p12"/>
          <p:cNvSpPr txBox="1"/>
          <p:nvPr/>
        </p:nvSpPr>
        <p:spPr>
          <a:xfrm>
            <a:off x="6033120" y="4883676"/>
            <a:ext cx="2520279" cy="161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이미지 업로드(.png)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학습 모델 선택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이미지 전처리(이미지를 224x224 크기로 변환, 픽셀값 0~1 범위로 정규화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예측 수행(색상 계열 확률 계산)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결과 표시(업로드 이미지표사,예측된 색상 게열 강조, 색상계열별 확률 표시)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2"/>
          <p:cNvSpPr/>
          <p:nvPr/>
        </p:nvSpPr>
        <p:spPr>
          <a:xfrm>
            <a:off x="2802502" y="2951422"/>
            <a:ext cx="216024" cy="48463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CDCDEE"/>
              </a:gs>
              <a:gs pos="11988">
                <a:srgbClr val="CDCDEE"/>
              </a:gs>
              <a:gs pos="74000">
                <a:srgbClr val="8F8FDB"/>
              </a:gs>
              <a:gs pos="83000">
                <a:srgbClr val="8F8FDB"/>
              </a:gs>
              <a:gs pos="100000">
                <a:srgbClr val="B3B3E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79" name="Google Shape;79;p12"/>
          <p:cNvSpPr/>
          <p:nvPr/>
        </p:nvSpPr>
        <p:spPr>
          <a:xfrm>
            <a:off x="5706731" y="2951422"/>
            <a:ext cx="216024" cy="48463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CDCDEE"/>
              </a:gs>
              <a:gs pos="11988">
                <a:srgbClr val="CDCDEE"/>
              </a:gs>
              <a:gs pos="74000">
                <a:srgbClr val="8F8FDB"/>
              </a:gs>
              <a:gs pos="83000">
                <a:srgbClr val="8F8FDB"/>
              </a:gs>
              <a:gs pos="100000">
                <a:srgbClr val="B3B3E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pic>
        <p:nvPicPr>
          <p:cNvPr id="80" name="Google Shape;8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3643" y="1747632"/>
            <a:ext cx="2478494" cy="2977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2004-07-28T08:28:23Z</dcterms:created>
  <dc:creator>강순열</dc:creator>
</cp:coreProperties>
</file>