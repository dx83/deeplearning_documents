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7RFFQXXu0/QneI7bKx8Ehdphh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f6e153f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ef6e153f72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f6e153f7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ef6e153f72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f6e153f72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ef6e153f72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f6e153f72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ef6e153f72_1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2686c0fb3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f2686c0fb3_0_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2686c0fb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f2686c0fb3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2686c0fb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f2686c0fb3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2686c0fb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f2686c0fb3_0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2686c0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2686c0fb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267c12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f267c128d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ef6e153f72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"이미지 분류만으로는 한계가 있습니다. 약을 이미 먹었거나 사진을 못 찍는 상황도 있죠. 그래서 자연어로 알약을 설명하면 찾아주는 챗봇을 만들었습니다. 사용자가 쓰는 '동그랗고 커피색이야' 같은 표현을 DB 표준값 '원형', ‘갈색’으로 매핑하는 게 핵심 과제였습니다." </a:t>
            </a:r>
            <a:endParaRPr/>
          </a:p>
        </p:txBody>
      </p:sp>
      <p:sp>
        <p:nvSpPr>
          <p:cNvPr id="684" name="Google Shape;684;g3ef6e153f72_1_3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ef6e153f72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분류는 3단계로 작동합니다. 글자/마크는 식별력이 가장 높아 먼저, 모양 그룹, 마지막에 색상으로 정렬합니다. 특히 색상 분류는 객관적 기준이 필요했는데, 공공디자인 표준과 MRR 데이터셋을 결합해서 모든 색상을 CIE Lab 좌표로 환산했습니다. 두 색의 거리는 ΔE 수치로 측정 가능해서, '왜 빨강계열입니까?'라는 질문에 좌표 수치로 답변할 수 있습니다.</a:t>
            </a:r>
            <a:endParaRPr/>
          </a:p>
        </p:txBody>
      </p:sp>
      <p:sp>
        <p:nvSpPr>
          <p:cNvPr id="716" name="Google Shape;716;g3ef6e153f72_1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f6e153f72_1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"단순한 검색이 아닌 챗봇인 이유는 두 가지입니다. 첫째, 정보가 부족하면 능동적으로 되묻습니다. 후보가 너무 많을 때 분할선 있는지 물어보는 식이죠. 둘째, 사용자 피드백이 자동으로 학습 데이터가 됩니다. 잘못된 결과를 사용자가 알려주면 JSONL로 쌓이고, SBERT 모델을 재학습할 수 있는 구조입니다. 사용할수록 정확해지는 시스템입니다." </a:t>
            </a:r>
            <a:endParaRPr/>
          </a:p>
        </p:txBody>
      </p:sp>
      <p:sp>
        <p:nvSpPr>
          <p:cNvPr id="745" name="Google Shape;745;g3ef6e153f72_1_3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ef6e153f72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ef6e153f72_1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f6e153f72_1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3ef6e153f72_1_4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6e153f72_1_437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8" name="Google Shape;88;g3ef6e153f72_1_437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9" name="Google Shape;89;g3ef6e153f72_1_437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6e153f72_1_441"/>
          <p:cNvSpPr txBox="1"/>
          <p:nvPr>
            <p:ph type="ctrTitle"/>
          </p:nvPr>
        </p:nvSpPr>
        <p:spPr>
          <a:xfrm>
            <a:off x="685800" y="2130424"/>
            <a:ext cx="7772700" cy="14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2" name="Google Shape;92;g3ef6e153f72_1_441"/>
          <p:cNvSpPr txBox="1"/>
          <p:nvPr>
            <p:ph idx="1" type="subTitle"/>
          </p:nvPr>
        </p:nvSpPr>
        <p:spPr>
          <a:xfrm>
            <a:off x="1371600" y="3886200"/>
            <a:ext cx="640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ef6e153f72_1_441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4" name="Google Shape;94;g3ef6e153f72_1_441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5" name="Google Shape;95;g3ef6e153f72_1_441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6e153f72_1_447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8" name="Google Shape;98;g3ef6e153f72_1_447"/>
          <p:cNvSpPr txBox="1"/>
          <p:nvPr>
            <p:ph idx="1" type="body"/>
          </p:nvPr>
        </p:nvSpPr>
        <p:spPr>
          <a:xfrm>
            <a:off x="457200" y="1600200"/>
            <a:ext cx="82296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9" name="Google Shape;99;g3ef6e153f72_1_447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0" name="Google Shape;100;g3ef6e153f72_1_447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1" name="Google Shape;101;g3ef6e153f72_1_447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f6e153f72_1_453"/>
          <p:cNvSpPr txBox="1"/>
          <p:nvPr>
            <p:ph type="title"/>
          </p:nvPr>
        </p:nvSpPr>
        <p:spPr>
          <a:xfrm>
            <a:off x="722312" y="4406901"/>
            <a:ext cx="7772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4" name="Google Shape;104;g3ef6e153f72_1_453"/>
          <p:cNvSpPr txBox="1"/>
          <p:nvPr>
            <p:ph idx="1" type="body"/>
          </p:nvPr>
        </p:nvSpPr>
        <p:spPr>
          <a:xfrm>
            <a:off x="722312" y="2906712"/>
            <a:ext cx="77727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00" spcFirstLastPara="1" rIns="91400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ef6e153f72_1_453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6" name="Google Shape;106;g3ef6e153f72_1_453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7" name="Google Shape;107;g3ef6e153f72_1_453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f6e153f72_1_459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0" name="Google Shape;110;g3ef6e153f72_1_459"/>
          <p:cNvSpPr txBox="1"/>
          <p:nvPr>
            <p:ph idx="1" type="body"/>
          </p:nvPr>
        </p:nvSpPr>
        <p:spPr>
          <a:xfrm>
            <a:off x="457200" y="1600200"/>
            <a:ext cx="4038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11" name="Google Shape;111;g3ef6e153f72_1_459"/>
          <p:cNvSpPr txBox="1"/>
          <p:nvPr>
            <p:ph idx="2" type="body"/>
          </p:nvPr>
        </p:nvSpPr>
        <p:spPr>
          <a:xfrm>
            <a:off x="4648200" y="1600200"/>
            <a:ext cx="4038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12" name="Google Shape;112;g3ef6e153f72_1_459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3" name="Google Shape;113;g3ef6e153f72_1_459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4" name="Google Shape;114;g3ef6e153f72_1_459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f6e153f72_1_466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7" name="Google Shape;117;g3ef6e153f72_1_466"/>
          <p:cNvSpPr txBox="1"/>
          <p:nvPr>
            <p:ph idx="1" type="body"/>
          </p:nvPr>
        </p:nvSpPr>
        <p:spPr>
          <a:xfrm>
            <a:off x="457200" y="1535112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00" spcFirstLastPara="1" rIns="91400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ef6e153f72_1_46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92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ef6e153f72_1_466"/>
          <p:cNvSpPr txBox="1"/>
          <p:nvPr>
            <p:ph idx="3" type="body"/>
          </p:nvPr>
        </p:nvSpPr>
        <p:spPr>
          <a:xfrm>
            <a:off x="4645024" y="1535112"/>
            <a:ext cx="4041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00" spcFirstLastPara="1" rIns="91400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ef6e153f72_1_466"/>
          <p:cNvSpPr txBox="1"/>
          <p:nvPr>
            <p:ph idx="4" type="body"/>
          </p:nvPr>
        </p:nvSpPr>
        <p:spPr>
          <a:xfrm>
            <a:off x="4645024" y="2174875"/>
            <a:ext cx="40416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92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ef6e153f72_1_466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2" name="Google Shape;122;g3ef6e153f72_1_466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3" name="Google Shape;123;g3ef6e153f72_1_466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f6e153f72_1_475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6" name="Google Shape;126;g3ef6e153f72_1_475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7" name="Google Shape;127;g3ef6e153f72_1_475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8" name="Google Shape;128;g3ef6e153f72_1_475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f6e153f72_1_480"/>
          <p:cNvSpPr txBox="1"/>
          <p:nvPr>
            <p:ph type="title"/>
          </p:nvPr>
        </p:nvSpPr>
        <p:spPr>
          <a:xfrm>
            <a:off x="457200" y="273051"/>
            <a:ext cx="30081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00" spcFirstLastPara="1" rIns="91400" wrap="square" tIns="45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1" name="Google Shape;131;g3ef6e153f72_1_480"/>
          <p:cNvSpPr txBox="1"/>
          <p:nvPr>
            <p:ph idx="1" type="body"/>
          </p:nvPr>
        </p:nvSpPr>
        <p:spPr>
          <a:xfrm>
            <a:off x="3575051" y="273051"/>
            <a:ext cx="5112000" cy="5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127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132" name="Google Shape;132;g3ef6e153f72_1_480"/>
          <p:cNvSpPr txBox="1"/>
          <p:nvPr>
            <p:ph idx="2" type="body"/>
          </p:nvPr>
        </p:nvSpPr>
        <p:spPr>
          <a:xfrm>
            <a:off x="457200" y="1435101"/>
            <a:ext cx="30081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g3ef6e153f72_1_480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4" name="Google Shape;134;g3ef6e153f72_1_480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5" name="Google Shape;135;g3ef6e153f72_1_480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f6e153f72_1_487"/>
          <p:cNvSpPr txBox="1"/>
          <p:nvPr>
            <p:ph type="title"/>
          </p:nvPr>
        </p:nvSpPr>
        <p:spPr>
          <a:xfrm>
            <a:off x="1792288" y="4800600"/>
            <a:ext cx="5486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00" spcFirstLastPara="1" rIns="91400" wrap="square" tIns="45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8" name="Google Shape;138;g3ef6e153f72_1_487"/>
          <p:cNvSpPr/>
          <p:nvPr>
            <p:ph idx="2" type="pic"/>
          </p:nvPr>
        </p:nvSpPr>
        <p:spPr>
          <a:xfrm>
            <a:off x="1792288" y="612776"/>
            <a:ext cx="5486400" cy="411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f6e153f72_1_487"/>
          <p:cNvSpPr txBox="1"/>
          <p:nvPr>
            <p:ph idx="1" type="body"/>
          </p:nvPr>
        </p:nvSpPr>
        <p:spPr>
          <a:xfrm>
            <a:off x="1792288" y="5367339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g3ef6e153f72_1_487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1" name="Google Shape;141;g3ef6e153f72_1_487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2" name="Google Shape;142;g3ef6e153f72_1_487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6e153f72_1_494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5" name="Google Shape;145;g3ef6e153f72_1_494"/>
          <p:cNvSpPr txBox="1"/>
          <p:nvPr>
            <p:ph idx="1" type="body"/>
          </p:nvPr>
        </p:nvSpPr>
        <p:spPr>
          <a:xfrm rot="5400000">
            <a:off x="2309250" y="-251850"/>
            <a:ext cx="4525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46" name="Google Shape;146;g3ef6e153f72_1_494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7" name="Google Shape;147;g3ef6e153f72_1_494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8" name="Google Shape;148;g3ef6e153f72_1_494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f6e153f72_1_500"/>
          <p:cNvSpPr txBox="1"/>
          <p:nvPr>
            <p:ph type="title"/>
          </p:nvPr>
        </p:nvSpPr>
        <p:spPr>
          <a:xfrm rot="5400000">
            <a:off x="4732351" y="2171389"/>
            <a:ext cx="5851200" cy="20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1" name="Google Shape;151;g3ef6e153f72_1_500"/>
          <p:cNvSpPr txBox="1"/>
          <p:nvPr>
            <p:ph idx="1" type="body"/>
          </p:nvPr>
        </p:nvSpPr>
        <p:spPr>
          <a:xfrm rot="5400000">
            <a:off x="541351" y="190189"/>
            <a:ext cx="5851200" cy="6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2" name="Google Shape;152;g3ef6e153f72_1_500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3" name="Google Shape;153;g3ef6e153f72_1_500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4" name="Google Shape;154;g3ef6e153f72_1_500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6e153f72_1_6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f6e153f72_1_6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ef6e153f72_1_6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6e153f72_1_66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ef6e153f72_1_66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8" name="Google Shape;168;g3ef6e153f72_1_6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ef6e153f72_1_6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ef6e153f72_1_6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f6e153f72_1_6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ef6e153f72_1_67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g3ef6e153f72_1_6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ef6e153f72_1_6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ef6e153f72_1_6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f6e153f72_1_67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ef6e153f72_1_67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0" name="Google Shape;180;g3ef6e153f72_1_6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ef6e153f72_1_6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ef6e153f72_1_6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f6e153f72_1_6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ef6e153f72_1_68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6" name="Google Shape;186;g3ef6e153f72_1_68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f6e153f72_1_6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3ef6e153f72_1_6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ef6e153f72_1_6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f6e153f72_1_6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ef6e153f72_1_69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ef6e153f72_1_69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g3ef6e153f72_1_69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ef6e153f72_1_69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g3ef6e153f72_1_69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ef6e153f72_1_69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ef6e153f72_1_69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f6e153f72_1_7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ef6e153f72_1_7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ef6e153f72_1_7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f6e153f72_1_7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f6e153f72_1_70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ef6e153f72_1_70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g3ef6e153f72_1_70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8" name="Google Shape;208;g3ef6e153f72_1_70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g3ef6e153f72_1_70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ef6e153f72_1_70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f6e153f72_1_71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ef6e153f72_1_7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g3ef6e153f72_1_71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g3ef6e153f72_1_7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ef6e153f72_1_7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ef6e153f72_1_7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f6e153f72_1_7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ef6e153f72_1_720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g3ef6e153f72_1_7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ef6e153f72_1_7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ef6e153f72_1_7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f6e153f72_1_726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ef6e153f72_1_72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g3ef6e153f72_1_7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ef6e153f72_1_7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ef6e153f72_1_7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6e153f72_1_431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ef6e153f72_1_431"/>
          <p:cNvSpPr txBox="1"/>
          <p:nvPr>
            <p:ph idx="1" type="body"/>
          </p:nvPr>
        </p:nvSpPr>
        <p:spPr>
          <a:xfrm>
            <a:off x="457200" y="1600200"/>
            <a:ext cx="82296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00" spcFirstLastPara="1" rIns="91400" wrap="square" tIns="45725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275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–"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ef6e153f72_1_431"/>
          <p:cNvSpPr txBox="1"/>
          <p:nvPr>
            <p:ph idx="10" type="dt"/>
          </p:nvPr>
        </p:nvSpPr>
        <p:spPr>
          <a:xfrm>
            <a:off x="457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ef6e153f72_1_431"/>
          <p:cNvSpPr txBox="1"/>
          <p:nvPr>
            <p:ph idx="11" type="ftr"/>
          </p:nvPr>
        </p:nvSpPr>
        <p:spPr>
          <a:xfrm>
            <a:off x="3124200" y="6356349"/>
            <a:ext cx="289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ef6e153f72_1_431"/>
          <p:cNvSpPr txBox="1"/>
          <p:nvPr>
            <p:ph idx="12" type="sldNum"/>
          </p:nvPr>
        </p:nvSpPr>
        <p:spPr>
          <a:xfrm>
            <a:off x="6553200" y="6356349"/>
            <a:ext cx="2133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00" spcFirstLastPara="1" rIns="91400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6e153f72_1_6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g3ef6e153f72_1_65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g3ef6e153f72_1_65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ef6e153f72_1_65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ef6e153f72_1_65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.png"/><Relationship Id="rId13" Type="http://schemas.openxmlformats.org/officeDocument/2006/relationships/image" Target="../media/image12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30.png"/><Relationship Id="rId17" Type="http://schemas.openxmlformats.org/officeDocument/2006/relationships/image" Target="../media/image32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18" Type="http://schemas.openxmlformats.org/officeDocument/2006/relationships/image" Target="../media/image28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2.png"/><Relationship Id="rId13" Type="http://schemas.openxmlformats.org/officeDocument/2006/relationships/image" Target="../media/image11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21" Type="http://schemas.openxmlformats.org/officeDocument/2006/relationships/image" Target="../media/image11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47.png"/><Relationship Id="rId17" Type="http://schemas.openxmlformats.org/officeDocument/2006/relationships/image" Target="../media/image57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19" Type="http://schemas.openxmlformats.org/officeDocument/2006/relationships/image" Target="../media/image28.png"/><Relationship Id="rId6" Type="http://schemas.openxmlformats.org/officeDocument/2006/relationships/image" Target="../media/image6.png"/><Relationship Id="rId18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2.png"/><Relationship Id="rId13" Type="http://schemas.openxmlformats.org/officeDocument/2006/relationships/image" Target="../media/image54.png"/><Relationship Id="rId1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11.png"/><Relationship Id="rId1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21" Type="http://schemas.openxmlformats.org/officeDocument/2006/relationships/image" Target="../media/image11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47.png"/><Relationship Id="rId17" Type="http://schemas.openxmlformats.org/officeDocument/2006/relationships/image" Target="../media/image57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19" Type="http://schemas.openxmlformats.org/officeDocument/2006/relationships/image" Target="../media/image28.png"/><Relationship Id="rId6" Type="http://schemas.openxmlformats.org/officeDocument/2006/relationships/image" Target="../media/image6.png"/><Relationship Id="rId18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21" Type="http://schemas.openxmlformats.org/officeDocument/2006/relationships/image" Target="../media/image11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47.png"/><Relationship Id="rId17" Type="http://schemas.openxmlformats.org/officeDocument/2006/relationships/image" Target="../media/image57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19" Type="http://schemas.openxmlformats.org/officeDocument/2006/relationships/image" Target="../media/image28.png"/><Relationship Id="rId6" Type="http://schemas.openxmlformats.org/officeDocument/2006/relationships/image" Target="../media/image6.png"/><Relationship Id="rId18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21" Type="http://schemas.openxmlformats.org/officeDocument/2006/relationships/image" Target="../media/image11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47.png"/><Relationship Id="rId17" Type="http://schemas.openxmlformats.org/officeDocument/2006/relationships/image" Target="../media/image57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19" Type="http://schemas.openxmlformats.org/officeDocument/2006/relationships/image" Target="../media/image28.png"/><Relationship Id="rId6" Type="http://schemas.openxmlformats.org/officeDocument/2006/relationships/image" Target="../media/image6.png"/><Relationship Id="rId18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4.png"/><Relationship Id="rId10" Type="http://schemas.openxmlformats.org/officeDocument/2006/relationships/image" Target="../media/image2.png"/><Relationship Id="rId13" Type="http://schemas.openxmlformats.org/officeDocument/2006/relationships/image" Target="../media/image110.pn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102.png"/><Relationship Id="rId14" Type="http://schemas.openxmlformats.org/officeDocument/2006/relationships/image" Target="../media/image115.png"/><Relationship Id="rId17" Type="http://schemas.openxmlformats.org/officeDocument/2006/relationships/image" Target="../media/image118.png"/><Relationship Id="rId16" Type="http://schemas.openxmlformats.org/officeDocument/2006/relationships/image" Target="../media/image117.png"/><Relationship Id="rId5" Type="http://schemas.openxmlformats.org/officeDocument/2006/relationships/image" Target="../media/image7.png"/><Relationship Id="rId19" Type="http://schemas.openxmlformats.org/officeDocument/2006/relationships/image" Target="../media/image11.png"/><Relationship Id="rId6" Type="http://schemas.openxmlformats.org/officeDocument/2006/relationships/image" Target="../media/image6.png"/><Relationship Id="rId18" Type="http://schemas.openxmlformats.org/officeDocument/2006/relationships/image" Target="../media/image11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2.png"/><Relationship Id="rId13" Type="http://schemas.openxmlformats.org/officeDocument/2006/relationships/image" Target="../media/image54.png"/><Relationship Id="rId1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11.png"/><Relationship Id="rId1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7.png"/><Relationship Id="rId11" Type="http://schemas.openxmlformats.org/officeDocument/2006/relationships/image" Target="../media/image44.png"/><Relationship Id="rId22" Type="http://schemas.openxmlformats.org/officeDocument/2006/relationships/image" Target="../media/image127.png"/><Relationship Id="rId10" Type="http://schemas.openxmlformats.org/officeDocument/2006/relationships/image" Target="../media/image2.png"/><Relationship Id="rId21" Type="http://schemas.openxmlformats.org/officeDocument/2006/relationships/image" Target="../media/image130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Relationship Id="rId2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Relationship Id="rId15" Type="http://schemas.openxmlformats.org/officeDocument/2006/relationships/image" Target="../media/image126.png"/><Relationship Id="rId14" Type="http://schemas.openxmlformats.org/officeDocument/2006/relationships/image" Target="../media/image125.png"/><Relationship Id="rId17" Type="http://schemas.openxmlformats.org/officeDocument/2006/relationships/image" Target="../media/image33.png"/><Relationship Id="rId16" Type="http://schemas.openxmlformats.org/officeDocument/2006/relationships/image" Target="../media/image131.png"/><Relationship Id="rId5" Type="http://schemas.openxmlformats.org/officeDocument/2006/relationships/image" Target="../media/image24.png"/><Relationship Id="rId19" Type="http://schemas.openxmlformats.org/officeDocument/2006/relationships/image" Target="../media/image121.png"/><Relationship Id="rId6" Type="http://schemas.openxmlformats.org/officeDocument/2006/relationships/image" Target="../media/image6.png"/><Relationship Id="rId18" Type="http://schemas.openxmlformats.org/officeDocument/2006/relationships/image" Target="../media/image138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11" Type="http://schemas.openxmlformats.org/officeDocument/2006/relationships/image" Target="../media/image18.png"/><Relationship Id="rId10" Type="http://schemas.openxmlformats.org/officeDocument/2006/relationships/image" Target="../media/image2.png"/><Relationship Id="rId21" Type="http://schemas.openxmlformats.org/officeDocument/2006/relationships/image" Target="../media/image11.png"/><Relationship Id="rId13" Type="http://schemas.openxmlformats.org/officeDocument/2006/relationships/image" Target="../media/image7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image" Target="../media/image23.png"/><Relationship Id="rId14" Type="http://schemas.openxmlformats.org/officeDocument/2006/relationships/image" Target="../media/image47.png"/><Relationship Id="rId17" Type="http://schemas.openxmlformats.org/officeDocument/2006/relationships/image" Target="../media/image57.png"/><Relationship Id="rId16" Type="http://schemas.openxmlformats.org/officeDocument/2006/relationships/image" Target="../media/image39.png"/><Relationship Id="rId5" Type="http://schemas.openxmlformats.org/officeDocument/2006/relationships/image" Target="../media/image19.png"/><Relationship Id="rId19" Type="http://schemas.openxmlformats.org/officeDocument/2006/relationships/image" Target="../media/image28.png"/><Relationship Id="rId6" Type="http://schemas.openxmlformats.org/officeDocument/2006/relationships/image" Target="../media/image6.png"/><Relationship Id="rId18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2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Relationship Id="rId15" Type="http://schemas.openxmlformats.org/officeDocument/2006/relationships/image" Target="../media/image126.png"/><Relationship Id="rId14" Type="http://schemas.openxmlformats.org/officeDocument/2006/relationships/image" Target="../media/image125.png"/><Relationship Id="rId17" Type="http://schemas.openxmlformats.org/officeDocument/2006/relationships/image" Target="../media/image131.png"/><Relationship Id="rId16" Type="http://schemas.openxmlformats.org/officeDocument/2006/relationships/image" Target="../media/image172.png"/><Relationship Id="rId5" Type="http://schemas.openxmlformats.org/officeDocument/2006/relationships/image" Target="../media/image24.png"/><Relationship Id="rId19" Type="http://schemas.openxmlformats.org/officeDocument/2006/relationships/image" Target="../media/image138.png"/><Relationship Id="rId6" Type="http://schemas.openxmlformats.org/officeDocument/2006/relationships/image" Target="../media/image6.png"/><Relationship Id="rId18" Type="http://schemas.openxmlformats.org/officeDocument/2006/relationships/image" Target="../media/image33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2.png"/><Relationship Id="rId13" Type="http://schemas.openxmlformats.org/officeDocument/2006/relationships/image" Target="../media/image164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160.png"/><Relationship Id="rId14" Type="http://schemas.openxmlformats.org/officeDocument/2006/relationships/image" Target="../media/image158.png"/><Relationship Id="rId5" Type="http://schemas.openxmlformats.org/officeDocument/2006/relationships/image" Target="../media/image58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.png"/><Relationship Id="rId12" Type="http://schemas.openxmlformats.org/officeDocument/2006/relationships/image" Target="../media/image16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65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9.png"/><Relationship Id="rId4" Type="http://schemas.openxmlformats.org/officeDocument/2006/relationships/image" Target="../media/image171.png"/><Relationship Id="rId9" Type="http://schemas.openxmlformats.org/officeDocument/2006/relationships/image" Target="../media/image162.png"/><Relationship Id="rId5" Type="http://schemas.openxmlformats.org/officeDocument/2006/relationships/image" Target="../media/image161.png"/><Relationship Id="rId6" Type="http://schemas.openxmlformats.org/officeDocument/2006/relationships/image" Target="../media/image167.png"/><Relationship Id="rId7" Type="http://schemas.openxmlformats.org/officeDocument/2006/relationships/image" Target="../media/image163.png"/><Relationship Id="rId8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3ef6e153f7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ef6e153f72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f6e153f72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ef6e153f72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f6e153f72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ef6e153f72_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834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ef6e153f72_1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ef6e153f72_1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ef6e153f72_1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ef6e153f72_1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78899" y="2501901"/>
            <a:ext cx="6248399" cy="1003301"/>
          </a:xfrm>
          <a:prstGeom prst="rect">
            <a:avLst/>
          </a:prstGeom>
          <a:noFill/>
          <a:ln>
            <a:noFill/>
          </a:ln>
          <a:effectLst>
            <a:outerShdw blurRad="53568" dir="2700000" dist="206027">
              <a:srgbClr val="000000">
                <a:alpha val="30199"/>
              </a:srgbClr>
            </a:outerShdw>
          </a:effectLst>
        </p:spPr>
      </p:pic>
      <p:sp>
        <p:nvSpPr>
          <p:cNvPr id="244" name="Google Shape;244;g3ef6e153f72_1_0"/>
          <p:cNvSpPr txBox="1"/>
          <p:nvPr/>
        </p:nvSpPr>
        <p:spPr>
          <a:xfrm>
            <a:off x="5759448" y="9778949"/>
            <a:ext cx="12674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00" lIns="0" spcFirstLastPara="1" rIns="0" wrap="square" tIns="154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나병도     ㅣ       강순렬       ㅣ      김성태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ㅣ       김지수       ㅣ      서성민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ef6e153f72_1_0"/>
          <p:cNvSpPr txBox="1"/>
          <p:nvPr/>
        </p:nvSpPr>
        <p:spPr>
          <a:xfrm>
            <a:off x="1787323" y="4381549"/>
            <a:ext cx="201681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32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b="0" i="0" lang="en-US" sz="14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딥러닝을 통한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b="0" i="0" lang="en-US" sz="14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알약 이미지 분류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ef6e153f72_1_0"/>
          <p:cNvSpPr txBox="1"/>
          <p:nvPr/>
        </p:nvSpPr>
        <p:spPr>
          <a:xfrm>
            <a:off x="9283696" y="2755901"/>
            <a:ext cx="562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Tech_Presentation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ef6e153f72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267" y="431803"/>
            <a:ext cx="24790398" cy="1276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ef6e153f72_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ef6e153f72_1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ef6e153f72_1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ef6e153f72_1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f6e153f72_1_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f6e153f72_1_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ef6e153f72_1_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ef6e153f72_1_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6096000"/>
            <a:ext cx="101981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7264400"/>
            <a:ext cx="101981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8445499"/>
            <a:ext cx="101981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9613899"/>
            <a:ext cx="101981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10782299"/>
            <a:ext cx="101981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ef6e153f72_1_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77424" y="11963400"/>
            <a:ext cx="10198101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ef6e153f72_1_16"/>
          <p:cNvSpPr txBox="1"/>
          <p:nvPr/>
        </p:nvSpPr>
        <p:spPr>
          <a:xfrm>
            <a:off x="1473267" y="1567000"/>
            <a:ext cx="77343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2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딥러닝을 통한 알약 이미지 분류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f6e153f72_1_16"/>
          <p:cNvSpPr txBox="1"/>
          <p:nvPr/>
        </p:nvSpPr>
        <p:spPr>
          <a:xfrm>
            <a:off x="1473267" y="4150299"/>
            <a:ext cx="104199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사용자가 알약 이미지를 업로드하거나 챗봇에 알약 외형 설명을 통한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모델이 해당 알약을 분류하고 예측 결과를 제공하는 서비스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f6e153f72_1_16"/>
          <p:cNvSpPr txBox="1"/>
          <p:nvPr/>
        </p:nvSpPr>
        <p:spPr>
          <a:xfrm>
            <a:off x="13123336" y="6676043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나병도 : 데이터 전처리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f6e153f72_1_16"/>
          <p:cNvSpPr txBox="1"/>
          <p:nvPr/>
        </p:nvSpPr>
        <p:spPr>
          <a:xfrm>
            <a:off x="13123336" y="7827592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강순렬 : 알약 색상 분류 모델 개발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f6e153f72_1_16"/>
          <p:cNvSpPr txBox="1"/>
          <p:nvPr/>
        </p:nvSpPr>
        <p:spPr>
          <a:xfrm>
            <a:off x="13123336" y="8992819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김성태 :  알약 문자/마크 인식 모델 개발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f6e153f72_1_16"/>
          <p:cNvSpPr txBox="1"/>
          <p:nvPr/>
        </p:nvSpPr>
        <p:spPr>
          <a:xfrm>
            <a:off x="13123336" y="10158043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김지수 : 알약 검색을 위한 챗봇 개발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ef6e153f72_1_16"/>
          <p:cNvSpPr txBox="1"/>
          <p:nvPr/>
        </p:nvSpPr>
        <p:spPr>
          <a:xfrm>
            <a:off x="13123336" y="11323269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서성민 : 알약 외양 분류 모델 개발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f6e153f72_1_16"/>
          <p:cNvSpPr txBox="1"/>
          <p:nvPr/>
        </p:nvSpPr>
        <p:spPr>
          <a:xfrm>
            <a:off x="12636467" y="5511800"/>
            <a:ext cx="990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25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f6e153f72_1_16"/>
          <p:cNvSpPr txBox="1"/>
          <p:nvPr/>
        </p:nvSpPr>
        <p:spPr>
          <a:xfrm>
            <a:off x="12636464" y="5520341"/>
            <a:ext cx="28344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 소개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f6e153f72_1_16"/>
          <p:cNvSpPr txBox="1"/>
          <p:nvPr/>
        </p:nvSpPr>
        <p:spPr>
          <a:xfrm>
            <a:off x="12191968" y="6718301"/>
            <a:ext cx="622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8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ef6e153f72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ef6e153f72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ef6e153f72_1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ef6e153f72_1_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ef6e153f72_1_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ef6e153f72_1_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ef6e153f72_1_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ef6e153f72_1_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ef6e153f72_1_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ef6e153f72_1_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25200" y="1536701"/>
            <a:ext cx="2120902" cy="609600"/>
          </a:xfrm>
          <a:prstGeom prst="rect">
            <a:avLst/>
          </a:prstGeom>
          <a:noFill/>
          <a:ln>
            <a:noFill/>
          </a:ln>
          <a:effectLst>
            <a:outerShdw blurRad="32435" dir="2700000" dist="124747">
              <a:srgbClr val="000000">
                <a:alpha val="30199"/>
              </a:srgbClr>
            </a:outerShdw>
          </a:effectLst>
        </p:spPr>
      </p:pic>
      <p:sp>
        <p:nvSpPr>
          <p:cNvPr id="290" name="Google Shape;290;g3ef6e153f72_1_44"/>
          <p:cNvSpPr txBox="1"/>
          <p:nvPr/>
        </p:nvSpPr>
        <p:spPr>
          <a:xfrm>
            <a:off x="16278267" y="11328635"/>
            <a:ext cx="619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-Yolo11, CRNN, Resnet18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-SBERT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f6e153f72_1_44"/>
          <p:cNvSpPr txBox="1"/>
          <p:nvPr/>
        </p:nvSpPr>
        <p:spPr>
          <a:xfrm>
            <a:off x="1546235" y="2352733"/>
            <a:ext cx="212976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기술스택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f6e153f72_1_44"/>
          <p:cNvSpPr txBox="1"/>
          <p:nvPr/>
        </p:nvSpPr>
        <p:spPr>
          <a:xfrm>
            <a:off x="1697035" y="11328635"/>
            <a:ext cx="619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Vite를 사용한 React 프론트엔드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f6e153f72_1_44"/>
          <p:cNvSpPr txBox="1"/>
          <p:nvPr/>
        </p:nvSpPr>
        <p:spPr>
          <a:xfrm>
            <a:off x="8987635" y="11328659"/>
            <a:ext cx="61977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fastAPI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Python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f6e153f72_1_44"/>
          <p:cNvSpPr txBox="1"/>
          <p:nvPr/>
        </p:nvSpPr>
        <p:spPr>
          <a:xfrm>
            <a:off x="16840200" y="9779000"/>
            <a:ext cx="506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725" lIns="0" spcFirstLastPara="1" rIns="0" wrap="square" tIns="347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f6e153f72_1_44"/>
          <p:cNvSpPr txBox="1"/>
          <p:nvPr/>
        </p:nvSpPr>
        <p:spPr>
          <a:xfrm>
            <a:off x="11277600" y="1676400"/>
            <a:ext cx="1828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Visual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3ef6e153f72_1_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91067" y="4019635"/>
            <a:ext cx="6864794" cy="6864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ef6e153f72_1_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62811" y="4111067"/>
            <a:ext cx="6864794" cy="6864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ef6e153f72_1_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34533" y="4089064"/>
            <a:ext cx="6864800" cy="686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ef6e153f72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ef6e153f72_1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ef6e153f72_1_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ef6e153f72_1_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ef6e153f72_1_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ef6e153f72_1_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ef6e153f72_1_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ef6e153f72_1_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ef6e153f72_1_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ef6e153f72_1_6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927600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ef6e153f72_1_6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5613400"/>
            <a:ext cx="698501" cy="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ef6e153f72_1_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1" y="7404101"/>
            <a:ext cx="6527801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ef6e153f72_1_6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1" y="8089901"/>
            <a:ext cx="698501" cy="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ef6e153f72_1_6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125200" y="1536701"/>
            <a:ext cx="2120902" cy="609600"/>
          </a:xfrm>
          <a:prstGeom prst="rect">
            <a:avLst/>
          </a:prstGeom>
          <a:noFill/>
          <a:ln>
            <a:noFill/>
          </a:ln>
          <a:effectLst>
            <a:outerShdw blurRad="32435" dir="2700000" dist="124747">
              <a:srgbClr val="000000">
                <a:alpha val="30199"/>
              </a:srgbClr>
            </a:outerShdw>
          </a:effectLst>
        </p:spPr>
      </p:pic>
      <p:pic>
        <p:nvPicPr>
          <p:cNvPr id="317" name="Google Shape;317;g3ef6e153f72_1_6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1" y="56388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ef6e153f72_1_6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1" y="8039101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ef6e153f72_1_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66501" y="4889501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28819" dir="2700000" dist="88669">
              <a:srgbClr val="000000">
                <a:alpha val="14900"/>
              </a:srgbClr>
            </a:outerShdw>
          </a:effectLst>
        </p:spPr>
      </p:pic>
      <p:pic>
        <p:nvPicPr>
          <p:cNvPr id="320" name="Google Shape;320;g3ef6e153f72_1_6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66501" y="7404101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28819" dir="2700000" dist="88669">
              <a:srgbClr val="000000">
                <a:alpha val="14900"/>
              </a:srgbClr>
            </a:outerShdw>
          </a:effectLst>
        </p:spPr>
      </p:pic>
      <p:sp>
        <p:nvSpPr>
          <p:cNvPr id="321" name="Google Shape;321;g3ef6e153f72_1_66"/>
          <p:cNvSpPr txBox="1"/>
          <p:nvPr/>
        </p:nvSpPr>
        <p:spPr>
          <a:xfrm>
            <a:off x="4838597" y="5702304"/>
            <a:ext cx="43368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000"/>
              <a:t>알약 이미지 분류 모델</a:t>
            </a:r>
            <a:endParaRPr b="1" sz="30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27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 업로드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f6e153f72_1_66"/>
          <p:cNvSpPr txBox="1"/>
          <p:nvPr/>
        </p:nvSpPr>
        <p:spPr>
          <a:xfrm>
            <a:off x="3479800" y="5791200"/>
            <a:ext cx="660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f6e153f72_1_66"/>
          <p:cNvSpPr txBox="1"/>
          <p:nvPr/>
        </p:nvSpPr>
        <p:spPr>
          <a:xfrm>
            <a:off x="4730645" y="8185080"/>
            <a:ext cx="4597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000"/>
              <a:t>알약 검색 챗봇</a:t>
            </a:r>
            <a:endParaRPr b="1" sz="30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27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외형에 대한 자연어 입력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ef6e153f72_1_66"/>
          <p:cNvSpPr txBox="1"/>
          <p:nvPr/>
        </p:nvSpPr>
        <p:spPr>
          <a:xfrm>
            <a:off x="3467101" y="8267701"/>
            <a:ext cx="660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f6e153f72_1_66"/>
          <p:cNvSpPr txBox="1"/>
          <p:nvPr/>
        </p:nvSpPr>
        <p:spPr>
          <a:xfrm>
            <a:off x="12242733" y="5403725"/>
            <a:ext cx="84072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각 모델을 로드해 예측을 수행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400">
                <a:solidFill>
                  <a:schemeClr val="dk1"/>
                </a:solidFill>
              </a:rPr>
              <a:t>외양 분류 모델,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색상 분류 모델,  문자/마크 인식 모델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3개의 모델 결과를 합산해서 알약 예측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ef6e153f72_1_66"/>
          <p:cNvSpPr txBox="1"/>
          <p:nvPr/>
        </p:nvSpPr>
        <p:spPr>
          <a:xfrm>
            <a:off x="1574800" y="2616200"/>
            <a:ext cx="212976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시스템 구조</a:t>
            </a:r>
            <a:endParaRPr b="1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t/>
            </a:r>
            <a:endParaRPr b="1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f6e153f72_1_66"/>
          <p:cNvSpPr txBox="1"/>
          <p:nvPr/>
        </p:nvSpPr>
        <p:spPr>
          <a:xfrm>
            <a:off x="12430101" y="8286800"/>
            <a:ext cx="80391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외형 설명 기반 후보 검색 챗봇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ef6e153f72_1_66"/>
          <p:cNvSpPr txBox="1"/>
          <p:nvPr/>
        </p:nvSpPr>
        <p:spPr>
          <a:xfrm>
            <a:off x="11277600" y="1676400"/>
            <a:ext cx="1828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stracture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g3f2686c0fb3_0_5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2899" y="-12699"/>
            <a:ext cx="24790398" cy="1276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f2686c0fb3_0_5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f2686c0fb3_0_5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f2686c0fb3_0_5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f2686c0fb3_0_5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f2686c0fb3_0_5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f2686c0fb3_0_5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8" y="6832602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2686c0fb3_0_5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f2686c0fb3_0_5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899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g3f2686c0fb3_0_556"/>
          <p:cNvCxnSpPr/>
          <p:nvPr/>
        </p:nvCxnSpPr>
        <p:spPr>
          <a:xfrm flipH="1" rot="10800000">
            <a:off x="5750981" y="3957300"/>
            <a:ext cx="4179300" cy="290070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3" name="Google Shape;343;g3f2686c0fb3_0_556"/>
          <p:cNvCxnSpPr/>
          <p:nvPr/>
        </p:nvCxnSpPr>
        <p:spPr>
          <a:xfrm>
            <a:off x="5750981" y="6858000"/>
            <a:ext cx="4179300" cy="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4" name="Google Shape;344;g3f2686c0fb3_0_556"/>
          <p:cNvCxnSpPr/>
          <p:nvPr/>
        </p:nvCxnSpPr>
        <p:spPr>
          <a:xfrm>
            <a:off x="5750981" y="6858000"/>
            <a:ext cx="4179300" cy="290070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5" name="Google Shape;345;g3f2686c0fb3_0_556"/>
          <p:cNvCxnSpPr/>
          <p:nvPr/>
        </p:nvCxnSpPr>
        <p:spPr>
          <a:xfrm>
            <a:off x="14454157" y="3957371"/>
            <a:ext cx="4179300" cy="290070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6" name="Google Shape;346;g3f2686c0fb3_0_556"/>
          <p:cNvCxnSpPr/>
          <p:nvPr/>
        </p:nvCxnSpPr>
        <p:spPr>
          <a:xfrm>
            <a:off x="14454157" y="6858000"/>
            <a:ext cx="4179300" cy="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47" name="Google Shape;347;g3f2686c0fb3_0_556"/>
          <p:cNvCxnSpPr/>
          <p:nvPr/>
        </p:nvCxnSpPr>
        <p:spPr>
          <a:xfrm flipH="1" rot="10800000">
            <a:off x="14454157" y="6857929"/>
            <a:ext cx="4179300" cy="2900700"/>
          </a:xfrm>
          <a:prstGeom prst="straightConnector1">
            <a:avLst/>
          </a:prstGeom>
          <a:noFill/>
          <a:ln cap="flat" cmpd="sng" w="50800">
            <a:solidFill>
              <a:srgbClr val="667085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id="348" name="Google Shape;348;g3f2686c0fb3_0_5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466667" y="5607685"/>
            <a:ext cx="4044314" cy="2500629"/>
          </a:xfrm>
          <a:prstGeom prst="rect">
            <a:avLst/>
          </a:prstGeom>
          <a:noFill/>
          <a:ln>
            <a:noFill/>
          </a:ln>
          <a:effectLst>
            <a:outerShdw blurRad="45411" dir="18900000" dist="104792">
              <a:srgbClr val="000000">
                <a:alpha val="14900"/>
              </a:srgbClr>
            </a:outerShdw>
          </a:effectLst>
        </p:spPr>
      </p:pic>
      <p:sp>
        <p:nvSpPr>
          <p:cNvPr id="349" name="Google Shape;349;g3f2686c0fb3_0_556"/>
          <p:cNvSpPr txBox="1"/>
          <p:nvPr/>
        </p:nvSpPr>
        <p:spPr>
          <a:xfrm>
            <a:off x="2283912" y="5736781"/>
            <a:ext cx="240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모델 합산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  <p:sp>
        <p:nvSpPr>
          <p:cNvPr id="350" name="Google Shape;350;g3f2686c0fb3_0_556"/>
          <p:cNvSpPr txBox="1"/>
          <p:nvPr/>
        </p:nvSpPr>
        <p:spPr>
          <a:xfrm>
            <a:off x="2416627" y="7151371"/>
            <a:ext cx="2144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모델별 확률과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가중치 곱의  합산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g3f2686c0fb3_0_5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0886868" y="3026600"/>
            <a:ext cx="2610266" cy="2500665"/>
          </a:xfrm>
          <a:prstGeom prst="rect">
            <a:avLst/>
          </a:prstGeom>
          <a:noFill/>
          <a:ln>
            <a:noFill/>
          </a:ln>
          <a:effectLst>
            <a:outerShdw blurRad="45411" dir="18900000" dist="104792">
              <a:srgbClr val="000000">
                <a:alpha val="14900"/>
              </a:srgbClr>
            </a:outerShdw>
          </a:effectLst>
        </p:spPr>
      </p:pic>
      <p:pic>
        <p:nvPicPr>
          <p:cNvPr id="352" name="Google Shape;352;g3f2686c0fb3_0_5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168699" y="3657019"/>
            <a:ext cx="2053589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f2686c0fb3_0_556"/>
          <p:cNvSpPr txBox="1"/>
          <p:nvPr/>
        </p:nvSpPr>
        <p:spPr>
          <a:xfrm>
            <a:off x="10987088" y="3733851"/>
            <a:ext cx="240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외양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  <p:sp>
        <p:nvSpPr>
          <p:cNvPr id="354" name="Google Shape;354;g3f2686c0fb3_0_556"/>
          <p:cNvSpPr txBox="1"/>
          <p:nvPr/>
        </p:nvSpPr>
        <p:spPr>
          <a:xfrm>
            <a:off x="11119803" y="4250741"/>
            <a:ext cx="2144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net B0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f2686c0fb3_0_5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0856303" y="5906699"/>
            <a:ext cx="2671399" cy="2500665"/>
          </a:xfrm>
          <a:prstGeom prst="rect">
            <a:avLst/>
          </a:prstGeom>
          <a:noFill/>
          <a:ln>
            <a:noFill/>
          </a:ln>
          <a:effectLst>
            <a:outerShdw blurRad="45411" dir="18900000" dist="104792">
              <a:srgbClr val="000000">
                <a:alpha val="14900"/>
              </a:srgbClr>
            </a:outerShdw>
          </a:effectLst>
        </p:spPr>
      </p:pic>
      <p:pic>
        <p:nvPicPr>
          <p:cNvPr id="356" name="Google Shape;356;g3f2686c0fb3_0_5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168699" y="6557648"/>
            <a:ext cx="2053589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f2686c0fb3_0_556"/>
          <p:cNvSpPr txBox="1"/>
          <p:nvPr/>
        </p:nvSpPr>
        <p:spPr>
          <a:xfrm>
            <a:off x="10987088" y="6634480"/>
            <a:ext cx="240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색상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  <p:sp>
        <p:nvSpPr>
          <p:cNvPr id="358" name="Google Shape;358;g3f2686c0fb3_0_556"/>
          <p:cNvSpPr txBox="1"/>
          <p:nvPr/>
        </p:nvSpPr>
        <p:spPr>
          <a:xfrm>
            <a:off x="11119803" y="7151371"/>
            <a:ext cx="2144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f2686c0fb3_0_5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0916102" y="8797433"/>
            <a:ext cx="2551798" cy="2500665"/>
          </a:xfrm>
          <a:prstGeom prst="rect">
            <a:avLst/>
          </a:prstGeom>
          <a:noFill/>
          <a:ln>
            <a:noFill/>
          </a:ln>
          <a:effectLst>
            <a:outerShdw blurRad="45411" dir="18900000" dist="104792">
              <a:srgbClr val="000000">
                <a:alpha val="14900"/>
              </a:srgbClr>
            </a:outerShdw>
          </a:effectLst>
        </p:spPr>
      </p:pic>
      <p:pic>
        <p:nvPicPr>
          <p:cNvPr id="360" name="Google Shape;360;g3f2686c0fb3_0_5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168699" y="9458277"/>
            <a:ext cx="2053589" cy="3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f2686c0fb3_0_556"/>
          <p:cNvSpPr txBox="1"/>
          <p:nvPr/>
        </p:nvSpPr>
        <p:spPr>
          <a:xfrm>
            <a:off x="10987088" y="9535109"/>
            <a:ext cx="240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각인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  <p:sp>
        <p:nvSpPr>
          <p:cNvPr id="362" name="Google Shape;362;g3f2686c0fb3_0_556"/>
          <p:cNvSpPr txBox="1"/>
          <p:nvPr/>
        </p:nvSpPr>
        <p:spPr>
          <a:xfrm>
            <a:off x="11119803" y="10052000"/>
            <a:ext cx="2144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YOLO11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f2686c0fb3_0_5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8873019" y="5607685"/>
            <a:ext cx="4044314" cy="2500629"/>
          </a:xfrm>
          <a:prstGeom prst="rect">
            <a:avLst/>
          </a:prstGeom>
          <a:noFill/>
          <a:ln>
            <a:noFill/>
          </a:ln>
          <a:effectLst>
            <a:outerShdw blurRad="45411" dir="18900000" dist="104792">
              <a:srgbClr val="000000">
                <a:alpha val="14900"/>
              </a:srgbClr>
            </a:outerShdw>
          </a:effectLst>
        </p:spPr>
      </p:pic>
      <p:sp>
        <p:nvSpPr>
          <p:cNvPr id="364" name="Google Shape;364;g3f2686c0fb3_0_556"/>
          <p:cNvSpPr txBox="1"/>
          <p:nvPr/>
        </p:nvSpPr>
        <p:spPr>
          <a:xfrm>
            <a:off x="19690264" y="5736781"/>
            <a:ext cx="240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얄약포함 영역탐지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  <p:sp>
        <p:nvSpPr>
          <p:cNvPr id="365" name="Google Shape;365;g3f2686c0fb3_0_556"/>
          <p:cNvSpPr txBox="1"/>
          <p:nvPr/>
        </p:nvSpPr>
        <p:spPr>
          <a:xfrm>
            <a:off x="19822979" y="7151371"/>
            <a:ext cx="2144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YOLO11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g3f2686c0fb3_0_556"/>
          <p:cNvGrpSpPr/>
          <p:nvPr/>
        </p:nvGrpSpPr>
        <p:grpSpPr>
          <a:xfrm>
            <a:off x="7924079" y="1114812"/>
            <a:ext cx="8542187" cy="1371611"/>
            <a:chOff x="8231120" y="424414"/>
            <a:chExt cx="6248400" cy="1003300"/>
          </a:xfrm>
        </p:grpSpPr>
        <p:pic>
          <p:nvPicPr>
            <p:cNvPr id="367" name="Google Shape;367;g3f2686c0fb3_0_55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368" name="Google Shape;368;g3f2686c0fb3_0_556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000"/>
                <a:t>알약 이미지 분류 모델 프로세스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g3f2686c0fb3_0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3f2686c0fb3_0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f2686c0fb3_0_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f2686c0fb3_0_2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f2686c0fb3_0_2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f2686c0fb3_0_2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f2686c0fb3_0_2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f2686c0fb3_0_2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f2686c0fb3_0_2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f2686c0fb3_0_2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927600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2686c0fb3_0_2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56134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f2686c0fb3_0_2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7404100"/>
            <a:ext cx="65278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f2686c0fb3_0_2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0" y="80899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f2686c0fb3_0_2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5700" y="9918700"/>
            <a:ext cx="65405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f2686c0fb3_0_2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29000" y="106045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f2686c0fb3_0_2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0" y="56388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f2686c0fb3_0_2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0" y="80391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f2686c0fb3_0_2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26700" y="105156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f2686c0fb3_0_2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66500" y="48895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392" name="Google Shape;392;g3f2686c0fb3_0_2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6500" y="74041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393" name="Google Shape;393;g3f2686c0fb3_0_2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366500" y="99187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sp>
        <p:nvSpPr>
          <p:cNvPr id="394" name="Google Shape;394;g3f2686c0fb3_0_221"/>
          <p:cNvSpPr txBox="1"/>
          <p:nvPr/>
        </p:nvSpPr>
        <p:spPr>
          <a:xfrm>
            <a:off x="4152900" y="5740400"/>
            <a:ext cx="5664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</a:t>
            </a:r>
            <a:endParaRPr sz="6000"/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영역 탐지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2686c0fb3_0_221"/>
          <p:cNvSpPr txBox="1"/>
          <p:nvPr/>
        </p:nvSpPr>
        <p:spPr>
          <a:xfrm>
            <a:off x="3479800" y="57912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2686c0fb3_0_221"/>
          <p:cNvSpPr txBox="1"/>
          <p:nvPr/>
        </p:nvSpPr>
        <p:spPr>
          <a:xfrm>
            <a:off x="4114700" y="8216900"/>
            <a:ext cx="5702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 영역 찾기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2686c0fb3_0_221"/>
          <p:cNvSpPr txBox="1"/>
          <p:nvPr/>
        </p:nvSpPr>
        <p:spPr>
          <a:xfrm>
            <a:off x="3467100" y="82677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f2686c0fb3_0_221"/>
          <p:cNvSpPr txBox="1"/>
          <p:nvPr/>
        </p:nvSpPr>
        <p:spPr>
          <a:xfrm>
            <a:off x="4953000" y="10718800"/>
            <a:ext cx="40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각인을 해석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2686c0fb3_0_221"/>
          <p:cNvSpPr txBox="1"/>
          <p:nvPr/>
        </p:nvSpPr>
        <p:spPr>
          <a:xfrm>
            <a:off x="3454400" y="107696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2686c0fb3_0_221"/>
          <p:cNvSpPr txBox="1"/>
          <p:nvPr/>
        </p:nvSpPr>
        <p:spPr>
          <a:xfrm>
            <a:off x="12239844" y="5499100"/>
            <a:ext cx="83577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사용자가 제출한 이미지에서 알약을 포함하는</a:t>
            </a:r>
            <a:endParaRPr sz="3000"/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최소의 영역 탐지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2686c0fb3_0_221"/>
          <p:cNvSpPr txBox="1"/>
          <p:nvPr/>
        </p:nvSpPr>
        <p:spPr>
          <a:xfrm>
            <a:off x="12213438" y="8026400"/>
            <a:ext cx="83577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1번 단계의 영역안에서 각인만의 영역을 추출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f2686c0fb3_0_221"/>
          <p:cNvSpPr txBox="1"/>
          <p:nvPr/>
        </p:nvSpPr>
        <p:spPr>
          <a:xfrm>
            <a:off x="12213438" y="10528300"/>
            <a:ext cx="83577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모델을 이용해서 2번 단계 영역 안의</a:t>
            </a:r>
            <a:endParaRPr sz="3000"/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글자를 </a:t>
            </a:r>
            <a:r>
              <a:rPr lang="en-US" sz="3000"/>
              <a:t>예측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g3f2686c0fb3_0_221"/>
          <p:cNvGrpSpPr/>
          <p:nvPr/>
        </p:nvGrpSpPr>
        <p:grpSpPr>
          <a:xfrm>
            <a:off x="7924079" y="2743195"/>
            <a:ext cx="8542187" cy="1371611"/>
            <a:chOff x="8231120" y="424414"/>
            <a:chExt cx="6248400" cy="1003300"/>
          </a:xfrm>
        </p:grpSpPr>
        <p:pic>
          <p:nvPicPr>
            <p:cNvPr id="404" name="Google Shape;404;g3f2686c0fb3_0_22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405" name="Google Shape;405;g3f2686c0fb3_0_221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828"/>
                <a:t>각인 인식의 과정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g3f2686c0fb3_0_221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</a:t>
            </a:r>
            <a:r>
              <a:rPr b="1" lang="en-US" sz="7733">
                <a:solidFill>
                  <a:schemeClr val="dk1"/>
                </a:solidFill>
              </a:rPr>
              <a:t>각인</a:t>
            </a: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7733">
                <a:solidFill>
                  <a:srgbClr val="9E9E9E"/>
                </a:solidFill>
              </a:rPr>
              <a:t>인식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g3f2686c0fb3_0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f2686c0fb3_0_3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f2686c0fb3_0_3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f2686c0fb3_0_3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f2686c0fb3_0_3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f2686c0fb3_0_3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f2686c0fb3_0_3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f2686c0fb3_0_3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f2686c0fb3_0_3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f2686c0fb3_0_3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6800" y="5257800"/>
            <a:ext cx="17183101" cy="5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f2686c0fb3_0_3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35600" y="6070600"/>
            <a:ext cx="17018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f2686c0fb3_0_3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277600" y="6311900"/>
            <a:ext cx="18669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f2686c0fb3_0_3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526000" y="6375400"/>
            <a:ext cx="1244600" cy="1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f2686c0fb3_0_337"/>
          <p:cNvSpPr txBox="1"/>
          <p:nvPr/>
        </p:nvSpPr>
        <p:spPr>
          <a:xfrm>
            <a:off x="3708400" y="7962900"/>
            <a:ext cx="516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원본 이미지 크롤링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f2686c0fb3_0_337"/>
          <p:cNvSpPr txBox="1"/>
          <p:nvPr/>
        </p:nvSpPr>
        <p:spPr>
          <a:xfrm>
            <a:off x="9588500" y="7962900"/>
            <a:ext cx="5245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라벨링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f2686c0fb3_0_337"/>
          <p:cNvSpPr txBox="1"/>
          <p:nvPr/>
        </p:nvSpPr>
        <p:spPr>
          <a:xfrm>
            <a:off x="15570200" y="7962900"/>
            <a:ext cx="516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 데이터 선별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f2686c0fb3_0_337"/>
          <p:cNvSpPr txBox="1"/>
          <p:nvPr/>
        </p:nvSpPr>
        <p:spPr>
          <a:xfrm>
            <a:off x="4330700" y="9372600"/>
            <a:ext cx="38988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CSV파일에 기반한 이미지 URL을 크롤링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f2686c0fb3_0_337"/>
          <p:cNvSpPr txBox="1"/>
          <p:nvPr/>
        </p:nvSpPr>
        <p:spPr>
          <a:xfrm>
            <a:off x="10236200" y="9372600"/>
            <a:ext cx="38988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 이미지 모델을 사용하여  사람의 수작업을 최소화</a:t>
            </a:r>
            <a:endParaRPr b="0" i="0" sz="24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2686c0fb3_0_337"/>
          <p:cNvSpPr txBox="1"/>
          <p:nvPr/>
        </p:nvSpPr>
        <p:spPr>
          <a:xfrm>
            <a:off x="16294100" y="9372600"/>
            <a:ext cx="38988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과표집을 피하고 수작업으로 </a:t>
            </a:r>
            <a:endParaRPr b="0" i="0" sz="24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4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명백한 오류가 없도록 선별</a:t>
            </a:r>
            <a:endParaRPr b="0" i="0" sz="24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g3f2686c0fb3_0_337"/>
          <p:cNvGrpSpPr/>
          <p:nvPr/>
        </p:nvGrpSpPr>
        <p:grpSpPr>
          <a:xfrm>
            <a:off x="7924079" y="2743195"/>
            <a:ext cx="8542187" cy="1371611"/>
            <a:chOff x="8231120" y="424414"/>
            <a:chExt cx="6248400" cy="1003300"/>
          </a:xfrm>
        </p:grpSpPr>
        <p:pic>
          <p:nvPicPr>
            <p:cNvPr id="431" name="Google Shape;431;g3f2686c0fb3_0_33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432" name="Google Shape;432;g3f2686c0fb3_0_337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828"/>
                <a:t>알약 데이터 준비 과정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g3f2686c0fb3_0_337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</a:t>
            </a:r>
            <a:r>
              <a:rPr b="1" lang="en-US" sz="7733">
                <a:solidFill>
                  <a:schemeClr val="dk1"/>
                </a:solidFill>
              </a:rPr>
              <a:t>각인</a:t>
            </a: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7733">
                <a:solidFill>
                  <a:srgbClr val="9E9E9E"/>
                </a:solidFill>
              </a:rPr>
              <a:t>인식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g3f2686c0fb3_0_4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f2686c0fb3_0_4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f2686c0fb3_0_4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f2686c0fb3_0_4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f2686c0fb3_0_4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f2686c0fb3_0_4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f2686c0fb3_0_4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f2686c0fb3_0_4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f2686c0fb3_0_4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f2686c0fb3_0_4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927600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f2686c0fb3_0_4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56134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f2686c0fb3_0_4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7404100"/>
            <a:ext cx="65278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f2686c0fb3_0_4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0" y="80899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f2686c0fb3_0_44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5700" y="9918700"/>
            <a:ext cx="65405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f2686c0fb3_0_4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29000" y="106045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f2686c0fb3_0_44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0" y="56388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f2686c0fb3_0_44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0" y="80391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f2686c0fb3_0_44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26700" y="105156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f2686c0fb3_0_44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66500" y="48895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457" name="Google Shape;457;g3f2686c0fb3_0_44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6500" y="74041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458" name="Google Shape;458;g3f2686c0fb3_0_44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366500" y="99187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sp>
        <p:nvSpPr>
          <p:cNvPr id="459" name="Google Shape;459;g3f2686c0fb3_0_441"/>
          <p:cNvSpPr txBox="1"/>
          <p:nvPr/>
        </p:nvSpPr>
        <p:spPr>
          <a:xfrm>
            <a:off x="4991100" y="5740400"/>
            <a:ext cx="40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 영역 탐지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2686c0fb3_0_441"/>
          <p:cNvSpPr txBox="1"/>
          <p:nvPr/>
        </p:nvSpPr>
        <p:spPr>
          <a:xfrm>
            <a:off x="3479800" y="57912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2686c0fb3_0_441"/>
          <p:cNvSpPr txBox="1"/>
          <p:nvPr/>
        </p:nvSpPr>
        <p:spPr>
          <a:xfrm>
            <a:off x="4572000" y="8216900"/>
            <a:ext cx="5031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 영역 찾기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2686c0fb3_0_441"/>
          <p:cNvSpPr txBox="1"/>
          <p:nvPr/>
        </p:nvSpPr>
        <p:spPr>
          <a:xfrm>
            <a:off x="3467100" y="82677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2686c0fb3_0_441"/>
          <p:cNvSpPr txBox="1"/>
          <p:nvPr/>
        </p:nvSpPr>
        <p:spPr>
          <a:xfrm>
            <a:off x="4953000" y="10718800"/>
            <a:ext cx="40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2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각인을 해석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2686c0fb3_0_441"/>
          <p:cNvSpPr txBox="1"/>
          <p:nvPr/>
        </p:nvSpPr>
        <p:spPr>
          <a:xfrm>
            <a:off x="3454400" y="107696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2686c0fb3_0_441"/>
          <p:cNvSpPr txBox="1"/>
          <p:nvPr/>
        </p:nvSpPr>
        <p:spPr>
          <a:xfrm>
            <a:off x="12051879" y="54991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사전 객체 인식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데이터로 학습된  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YOLO11모델을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알약이 포함된 일반 이미지에  훈련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2686c0fb3_0_441"/>
          <p:cNvSpPr txBox="1"/>
          <p:nvPr/>
        </p:nvSpPr>
        <p:spPr>
          <a:xfrm>
            <a:off x="12024975" y="80264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YOLO11 모델을 미세정보에 적합하도록 훈련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6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모든 기존의 YOLO11의 가중치는 변경될수 있도록 함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2686c0fb3_0_441"/>
          <p:cNvSpPr txBox="1"/>
          <p:nvPr/>
        </p:nvSpPr>
        <p:spPr>
          <a:xfrm>
            <a:off x="12024975" y="105283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CRNN 기반의 OCR 모델.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6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CNN은 각인의 특징을 추출  RNN은 각 특징간의 문맥 파악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g3f2686c0fb3_0_441"/>
          <p:cNvGrpSpPr/>
          <p:nvPr/>
        </p:nvGrpSpPr>
        <p:grpSpPr>
          <a:xfrm>
            <a:off x="7924079" y="2743195"/>
            <a:ext cx="8542187" cy="1371611"/>
            <a:chOff x="8231120" y="424414"/>
            <a:chExt cx="6248400" cy="1003300"/>
          </a:xfrm>
        </p:grpSpPr>
        <p:pic>
          <p:nvPicPr>
            <p:cNvPr id="469" name="Google Shape;469;g3f2686c0fb3_0_44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470" name="Google Shape;470;g3f2686c0fb3_0_441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828"/>
                <a:t>각인 </a:t>
              </a:r>
              <a:r>
                <a:rPr lang="en-US" sz="4828"/>
                <a:t>인식 모델 훈련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g3f2686c0fb3_0_441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</a:t>
            </a:r>
            <a:r>
              <a:rPr b="1" lang="en-US" sz="7733">
                <a:solidFill>
                  <a:schemeClr val="dk1"/>
                </a:solidFill>
              </a:rPr>
              <a:t>각인</a:t>
            </a: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7733">
                <a:solidFill>
                  <a:srgbClr val="9E9E9E"/>
                </a:solidFill>
              </a:rPr>
              <a:t>인식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g3f2686c0fb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f2686c0fb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f2686c0fb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f2686c0fb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f2686c0fb3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f2686c0fb3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f2686c0fb3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f2686c0fb3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f2686c0fb3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f2686c0fb3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927600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f2686c0fb3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56134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f2686c0fb3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7404100"/>
            <a:ext cx="65278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f2686c0fb3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0" y="80899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f2686c0fb3_0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5700" y="9918700"/>
            <a:ext cx="65405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f2686c0fb3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29000" y="106045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f2686c0fb3_0_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0" y="56388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3f2686c0fb3_0_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0" y="80391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3f2686c0fb3_0_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26700" y="105156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f2686c0fb3_0_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66500" y="48895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495" name="Google Shape;495;g3f2686c0fb3_0_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6500" y="74041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496" name="Google Shape;496;g3f2686c0fb3_0_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366500" y="99187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sp>
        <p:nvSpPr>
          <p:cNvPr id="497" name="Google Shape;497;g3f2686c0fb3_0_0"/>
          <p:cNvSpPr txBox="1"/>
          <p:nvPr/>
        </p:nvSpPr>
        <p:spPr>
          <a:xfrm>
            <a:off x="4152900" y="5740400"/>
            <a:ext cx="5664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</a:rPr>
              <a:t>전이 학습</a:t>
            </a:r>
            <a:endParaRPr sz="6000"/>
          </a:p>
        </p:txBody>
      </p:sp>
      <p:sp>
        <p:nvSpPr>
          <p:cNvPr id="498" name="Google Shape;498;g3f2686c0fb3_0_0"/>
          <p:cNvSpPr txBox="1"/>
          <p:nvPr/>
        </p:nvSpPr>
        <p:spPr>
          <a:xfrm>
            <a:off x="3479800" y="57912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2686c0fb3_0_0"/>
          <p:cNvSpPr txBox="1"/>
          <p:nvPr/>
        </p:nvSpPr>
        <p:spPr>
          <a:xfrm>
            <a:off x="4978400" y="8216900"/>
            <a:ext cx="40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출력층 교체</a:t>
            </a:r>
            <a:endParaRPr sz="6000"/>
          </a:p>
        </p:txBody>
      </p:sp>
      <p:sp>
        <p:nvSpPr>
          <p:cNvPr id="500" name="Google Shape;500;g3f2686c0fb3_0_0"/>
          <p:cNvSpPr txBox="1"/>
          <p:nvPr/>
        </p:nvSpPr>
        <p:spPr>
          <a:xfrm>
            <a:off x="3467100" y="82677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2686c0fb3_0_0"/>
          <p:cNvSpPr txBox="1"/>
          <p:nvPr/>
        </p:nvSpPr>
        <p:spPr>
          <a:xfrm>
            <a:off x="4953000" y="10718800"/>
            <a:ext cx="40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</a:rPr>
              <a:t>파인 튜닝</a:t>
            </a:r>
            <a:endParaRPr sz="6000"/>
          </a:p>
        </p:txBody>
      </p:sp>
      <p:sp>
        <p:nvSpPr>
          <p:cNvPr id="502" name="Google Shape;502;g3f2686c0fb3_0_0"/>
          <p:cNvSpPr txBox="1"/>
          <p:nvPr/>
        </p:nvSpPr>
        <p:spPr>
          <a:xfrm>
            <a:off x="3454400" y="10769600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2686c0fb3_0_0"/>
          <p:cNvSpPr txBox="1"/>
          <p:nvPr/>
        </p:nvSpPr>
        <p:spPr>
          <a:xfrm>
            <a:off x="12072780" y="54991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chemeClr val="dk1"/>
                </a:solidFill>
              </a:rPr>
              <a:t>ImageNet 1000개 클래스로 사전학습된 ResNet-18을 불러와 edge, texture, shape, color distribution 같은 이미지 특징 추출 능력을 재사용한다.</a:t>
            </a:r>
            <a:endParaRPr sz="2600"/>
          </a:p>
        </p:txBody>
      </p:sp>
      <p:sp>
        <p:nvSpPr>
          <p:cNvPr id="504" name="Google Shape;504;g3f2686c0fb3_0_0"/>
          <p:cNvSpPr txBox="1"/>
          <p:nvPr/>
        </p:nvSpPr>
        <p:spPr>
          <a:xfrm>
            <a:off x="12045875" y="80264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chemeClr val="dk1"/>
                </a:solidFill>
              </a:rPr>
              <a:t>기존 마지막 layer는 ImageNet 1000-class용이므로 제거하고, 512차원 feature를 11개 색상 계열 점수로 바꾸는 Linear(512, 11)을 붙인다.</a:t>
            </a:r>
            <a:endParaRPr sz="2600"/>
          </a:p>
        </p:txBody>
      </p:sp>
      <p:sp>
        <p:nvSpPr>
          <p:cNvPr id="505" name="Google Shape;505;g3f2686c0fb3_0_0"/>
          <p:cNvSpPr txBox="1"/>
          <p:nvPr/>
        </p:nvSpPr>
        <p:spPr>
          <a:xfrm>
            <a:off x="12045875" y="10528300"/>
            <a:ext cx="8515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chemeClr val="dk1"/>
                </a:solidFill>
              </a:rPr>
              <a:t>새 </a:t>
            </a:r>
            <a:r>
              <a:rPr lang="en-US" sz="2600">
                <a:solidFill>
                  <a:schemeClr val="dk1"/>
                </a:solidFill>
              </a:rPr>
              <a:t>분류기</a:t>
            </a:r>
            <a:r>
              <a:rPr i="0" lang="en-US" sz="2600" u="none" cap="none" strike="noStrike">
                <a:solidFill>
                  <a:schemeClr val="dk1"/>
                </a:solidFill>
              </a:rPr>
              <a:t>는 처음부터 학습하고, 기존 ResNet-18 layer도 알약 이미지에 맞게 업데이트한다. 추론 시 softmax를 적용한다.</a:t>
            </a:r>
            <a:endParaRPr sz="2600"/>
          </a:p>
        </p:txBody>
      </p:sp>
      <p:sp>
        <p:nvSpPr>
          <p:cNvPr id="506" name="Google Shape;506;g3f2686c0fb3_0_0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알약 </a:t>
            </a:r>
            <a:r>
              <a:rPr b="1" lang="en-US" sz="7733">
                <a:solidFill>
                  <a:srgbClr val="888888"/>
                </a:solidFill>
              </a:rPr>
              <a:t>색상</a:t>
            </a: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분류 모델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g3f2686c0fb3_0_0"/>
          <p:cNvGrpSpPr/>
          <p:nvPr/>
        </p:nvGrpSpPr>
        <p:grpSpPr>
          <a:xfrm>
            <a:off x="7924079" y="2743195"/>
            <a:ext cx="8542187" cy="1371611"/>
            <a:chOff x="8231120" y="424414"/>
            <a:chExt cx="6248400" cy="1003300"/>
          </a:xfrm>
        </p:grpSpPr>
        <p:pic>
          <p:nvPicPr>
            <p:cNvPr id="508" name="Google Shape;508;g3f2686c0fb3_0_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509" name="Google Shape;509;g3f2686c0fb3_0_0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828"/>
                <a:t>ResNet-18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1450" y="45085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927600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56134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7404100"/>
            <a:ext cx="65278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0" y="80899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5700" y="9918700"/>
            <a:ext cx="65405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29000" y="10604500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0" y="56388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0" y="80391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26700" y="10515600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408253" y="4889500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1"/>
              </a:srgbClr>
            </a:outerShdw>
          </a:effectLst>
        </p:spPr>
      </p:pic>
      <p:pic>
        <p:nvPicPr>
          <p:cNvPr id="533" name="Google Shape;533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6500" y="7404100"/>
            <a:ext cx="9626600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1"/>
              </a:srgbClr>
            </a:outerShdw>
          </a:effectLst>
        </p:spPr>
      </p:pic>
      <p:pic>
        <p:nvPicPr>
          <p:cNvPr id="534" name="Google Shape;534;p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366500" y="9918700"/>
            <a:ext cx="9626600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1"/>
              </a:srgbClr>
            </a:outerShdw>
          </a:effectLst>
        </p:spPr>
      </p:pic>
      <p:sp>
        <p:nvSpPr>
          <p:cNvPr id="535" name="Google Shape;535;p1"/>
          <p:cNvSpPr txBox="1"/>
          <p:nvPr/>
        </p:nvSpPr>
        <p:spPr>
          <a:xfrm>
            <a:off x="4991100" y="5740400"/>
            <a:ext cx="40259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경량 모델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"/>
          <p:cNvSpPr txBox="1"/>
          <p:nvPr/>
        </p:nvSpPr>
        <p:spPr>
          <a:xfrm>
            <a:off x="3479800" y="5791200"/>
            <a:ext cx="660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"/>
          <p:cNvSpPr txBox="1"/>
          <p:nvPr/>
        </p:nvSpPr>
        <p:spPr>
          <a:xfrm>
            <a:off x="4978400" y="8216900"/>
            <a:ext cx="40259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전이학습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"/>
          <p:cNvSpPr txBox="1"/>
          <p:nvPr/>
        </p:nvSpPr>
        <p:spPr>
          <a:xfrm>
            <a:off x="3467100" y="8267700"/>
            <a:ext cx="660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"/>
          <p:cNvSpPr txBox="1"/>
          <p:nvPr/>
        </p:nvSpPr>
        <p:spPr>
          <a:xfrm>
            <a:off x="4953000" y="10718800"/>
            <a:ext cx="40259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시각 특징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"/>
          <p:cNvSpPr txBox="1"/>
          <p:nvPr/>
        </p:nvSpPr>
        <p:spPr>
          <a:xfrm>
            <a:off x="3454400" y="10769600"/>
            <a:ext cx="660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"/>
          <p:cNvSpPr txBox="1"/>
          <p:nvPr/>
        </p:nvSpPr>
        <p:spPr>
          <a:xfrm>
            <a:off x="11934173" y="5499100"/>
            <a:ext cx="80391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B1 이상 모델보다 가볍고 학습·추론 비용이 낮다.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제한된 데이터 환경에서 과적합 부담이 상대적으로 작다.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외양 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분류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"/>
          <p:cNvSpPr txBox="1"/>
          <p:nvPr/>
        </p:nvSpPr>
        <p:spPr>
          <a:xfrm>
            <a:off x="11908773" y="8026400"/>
            <a:ext cx="91977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ImageNet 사전학습 가중치를 활용해 안정적인 학습이 가능하다.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적은 알약 이미지 데이터에도 전이학습을 적용할 수 있다.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"/>
          <p:cNvSpPr txBox="1"/>
          <p:nvPr/>
        </p:nvSpPr>
        <p:spPr>
          <a:xfrm>
            <a:off x="11908775" y="10528300"/>
            <a:ext cx="90843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알약의 윤곽, 색상, 각인, 원형·타원형·장방형 차이를 학습한다.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 분류 구조가 검증된 EfficientNet 계열의 기본 모델이다.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5" name="Google Shape;545;p1"/>
          <p:cNvGrpSpPr/>
          <p:nvPr/>
        </p:nvGrpSpPr>
        <p:grpSpPr>
          <a:xfrm>
            <a:off x="7924078" y="2743195"/>
            <a:ext cx="8542187" cy="1371611"/>
            <a:chOff x="8231120" y="424414"/>
            <a:chExt cx="6248400" cy="1003300"/>
          </a:xfrm>
        </p:grpSpPr>
        <p:pic>
          <p:nvPicPr>
            <p:cNvPr id="546" name="Google Shape;546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6"/>
                </a:srgbClr>
              </a:outerShdw>
            </a:effectLst>
          </p:spPr>
        </p:pic>
        <p:sp>
          <p:nvSpPr>
            <p:cNvPr id="547" name="Google Shape;547;p1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b="0" i="0" lang="en-US" sz="482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EfficientNet-B0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400" cy="12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13000" y="4660900"/>
            <a:ext cx="9626600" cy="3517900"/>
          </a:xfrm>
          <a:prstGeom prst="rect">
            <a:avLst/>
          </a:prstGeom>
          <a:noFill/>
          <a:ln>
            <a:noFill/>
          </a:ln>
          <a:effectLst>
            <a:outerShdw blurRad="35213" dir="2700000" dist="81261">
              <a:srgbClr val="000000">
                <a:alpha val="14901"/>
              </a:srgbClr>
            </a:outerShdw>
          </a:effectLst>
        </p:spPr>
      </p:pic>
      <p:pic>
        <p:nvPicPr>
          <p:cNvPr id="562" name="Google Shape;562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242800" y="4660900"/>
            <a:ext cx="9626600" cy="3517900"/>
          </a:xfrm>
          <a:prstGeom prst="rect">
            <a:avLst/>
          </a:prstGeom>
          <a:noFill/>
          <a:ln>
            <a:noFill/>
          </a:ln>
          <a:effectLst>
            <a:outerShdw blurRad="35213" dir="2700000" dist="81261">
              <a:srgbClr val="000000">
                <a:alpha val="14901"/>
              </a:srgbClr>
            </a:outerShdw>
          </a:effectLst>
        </p:spPr>
      </p:pic>
      <p:pic>
        <p:nvPicPr>
          <p:cNvPr id="563" name="Google Shape;563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242800" y="8420100"/>
            <a:ext cx="9626600" cy="3517900"/>
          </a:xfrm>
          <a:prstGeom prst="rect">
            <a:avLst/>
          </a:prstGeom>
          <a:noFill/>
          <a:ln>
            <a:noFill/>
          </a:ln>
          <a:effectLst>
            <a:outerShdw blurRad="35213" dir="2700000" dist="81261">
              <a:srgbClr val="000000">
                <a:alpha val="14901"/>
              </a:srgbClr>
            </a:outerShdw>
          </a:effectLst>
        </p:spPr>
      </p:pic>
      <p:pic>
        <p:nvPicPr>
          <p:cNvPr id="564" name="Google Shape;564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13000" y="8420100"/>
            <a:ext cx="9626600" cy="3517900"/>
          </a:xfrm>
          <a:prstGeom prst="rect">
            <a:avLst/>
          </a:prstGeom>
          <a:noFill/>
          <a:ln>
            <a:noFill/>
          </a:ln>
          <a:effectLst>
            <a:outerShdw blurRad="35213" dir="2700000" dist="81261">
              <a:srgbClr val="000000">
                <a:alpha val="14901"/>
              </a:srgbClr>
            </a:outerShdw>
          </a:effectLst>
        </p:spPr>
      </p:pic>
      <p:pic>
        <p:nvPicPr>
          <p:cNvPr id="565" name="Google Shape;565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997200" y="4978400"/>
            <a:ext cx="2882900" cy="28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84500" y="8737600"/>
            <a:ext cx="2882900" cy="28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814300" y="4978400"/>
            <a:ext cx="2882900" cy="28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2801600" y="8737600"/>
            <a:ext cx="28829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"/>
          <p:cNvSpPr txBox="1"/>
          <p:nvPr/>
        </p:nvSpPr>
        <p:spPr>
          <a:xfrm>
            <a:off x="6248400" y="10236200"/>
            <a:ext cx="521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샘플 수가 너무 적은 클래스를 제외해 학습 불안정성을 줄임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"/>
          <p:cNvSpPr txBox="1"/>
          <p:nvPr/>
        </p:nvSpPr>
        <p:spPr>
          <a:xfrm>
            <a:off x="16052800" y="5588000"/>
            <a:ext cx="4013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700" lIns="0" spcFirstLastPara="1" rIns="0" wrap="square" tIns="34700">
            <a:norm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9개 클래스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"/>
          <p:cNvSpPr txBox="1"/>
          <p:nvPr/>
        </p:nvSpPr>
        <p:spPr>
          <a:xfrm>
            <a:off x="16052800" y="6502400"/>
            <a:ext cx="521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원형, 타원형, 장방형, 사각형, 팔각형, 삼각형, 8자형, 마름모형, 물방울형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"/>
          <p:cNvSpPr txBox="1"/>
          <p:nvPr/>
        </p:nvSpPr>
        <p:spPr>
          <a:xfrm>
            <a:off x="16052800" y="9334500"/>
            <a:ext cx="4013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700" lIns="0" spcFirstLastPara="1" rIns="0" wrap="square" tIns="34700">
            <a:norm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 대상 확정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"/>
          <p:cNvSpPr txBox="1"/>
          <p:nvPr/>
        </p:nvSpPr>
        <p:spPr>
          <a:xfrm>
            <a:off x="16052800" y="10236200"/>
            <a:ext cx="521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기준 미달 클래스는 제외하고 최종 9개 모양 클래스로 모델 구성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"/>
          <p:cNvSpPr txBox="1"/>
          <p:nvPr/>
        </p:nvSpPr>
        <p:spPr>
          <a:xfrm>
            <a:off x="6248400" y="5588000"/>
            <a:ext cx="4013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700" lIns="0" spcFirstLastPara="1" rIns="0" wrap="square" tIns="34700">
            <a:norm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200장 이상 기준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"/>
          <p:cNvSpPr txBox="1"/>
          <p:nvPr/>
        </p:nvSpPr>
        <p:spPr>
          <a:xfrm>
            <a:off x="6248400" y="6502400"/>
            <a:ext cx="521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클래스별 이미지가 200장 이상 확보된 제형만 학습에 사용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"/>
          <p:cNvSpPr txBox="1"/>
          <p:nvPr/>
        </p:nvSpPr>
        <p:spPr>
          <a:xfrm>
            <a:off x="6248400" y="9334500"/>
            <a:ext cx="4013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700" lIns="0" spcFirstLastPara="1" rIns="0" wrap="square" tIns="34700">
            <a:norm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안정성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외양 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분류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p2"/>
          <p:cNvGrpSpPr/>
          <p:nvPr/>
        </p:nvGrpSpPr>
        <p:grpSpPr>
          <a:xfrm>
            <a:off x="7924078" y="2743195"/>
            <a:ext cx="8542187" cy="1371611"/>
            <a:chOff x="8231120" y="424414"/>
            <a:chExt cx="6248400" cy="1003300"/>
          </a:xfrm>
        </p:grpSpPr>
        <p:pic>
          <p:nvPicPr>
            <p:cNvPr id="579" name="Google Shape;579;p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6"/>
                </a:srgbClr>
              </a:outerShdw>
            </a:effectLst>
          </p:spPr>
        </p:pic>
        <p:sp>
          <p:nvSpPr>
            <p:cNvPr id="580" name="Google Shape;580;p2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b="0" i="0" lang="en-US" sz="482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 준비 및 전처리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400" cy="12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6800" y="5257800"/>
            <a:ext cx="17183100" cy="5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35600" y="6070600"/>
            <a:ext cx="17018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277600" y="6311900"/>
            <a:ext cx="18669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526000" y="6375400"/>
            <a:ext cx="1244600" cy="1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"/>
          <p:cNvSpPr txBox="1"/>
          <p:nvPr/>
        </p:nvSpPr>
        <p:spPr>
          <a:xfrm>
            <a:off x="3708400" y="7962900"/>
            <a:ext cx="5168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품목 단위 분할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"/>
          <p:cNvSpPr txBox="1"/>
          <p:nvPr/>
        </p:nvSpPr>
        <p:spPr>
          <a:xfrm>
            <a:off x="9588500" y="7962900"/>
            <a:ext cx="52451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Dataset 전처리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"/>
          <p:cNvSpPr txBox="1"/>
          <p:nvPr/>
        </p:nvSpPr>
        <p:spPr>
          <a:xfrm>
            <a:off x="15570200" y="7962900"/>
            <a:ext cx="5168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학습·파인튜닝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"/>
          <p:cNvSpPr txBox="1"/>
          <p:nvPr/>
        </p:nvSpPr>
        <p:spPr>
          <a:xfrm>
            <a:off x="4330700" y="8788400"/>
            <a:ext cx="38988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StratifiedGroupKFold 사용</a:t>
            </a:r>
            <a:b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같은 품목 이미지가 train/valid에 동시에 들어가지 않도록 방지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"/>
          <p:cNvSpPr txBox="1"/>
          <p:nvPr/>
        </p:nvSpPr>
        <p:spPr>
          <a:xfrm>
            <a:off x="10236200" y="8788400"/>
            <a:ext cx="38988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크기 224 x 224 x 3</a:t>
            </a:r>
            <a:b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Flip, Rotation, Zoom, Contrast 증강 적용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"/>
          <p:cNvSpPr txBox="1"/>
          <p:nvPr/>
        </p:nvSpPr>
        <p:spPr>
          <a:xfrm>
            <a:off x="16294100" y="8788400"/>
            <a:ext cx="38988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EfficientNetB0 + Pooling + Dropout + Dense</a:t>
            </a:r>
            <a:b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1차 15 epoch,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파인튜닝 10 epoch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외양 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분류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p3"/>
          <p:cNvGrpSpPr/>
          <p:nvPr/>
        </p:nvGrpSpPr>
        <p:grpSpPr>
          <a:xfrm>
            <a:off x="7924078" y="2743195"/>
            <a:ext cx="8542187" cy="1371611"/>
            <a:chOff x="8231120" y="424414"/>
            <a:chExt cx="6248400" cy="1003300"/>
          </a:xfrm>
        </p:grpSpPr>
        <p:pic>
          <p:nvPicPr>
            <p:cNvPr id="606" name="Google Shape;606;p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6"/>
                </a:srgbClr>
              </a:outerShdw>
            </a:effectLst>
          </p:spPr>
        </p:pic>
        <p:sp>
          <p:nvSpPr>
            <p:cNvPr id="607" name="Google Shape;607;p3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b="0" i="0" lang="en-US" sz="482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 분할 및 모델 학습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400" cy="12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482600" y="6286500"/>
            <a:ext cx="7353300" cy="4546600"/>
          </a:xfrm>
          <a:prstGeom prst="rect">
            <a:avLst/>
          </a:prstGeom>
          <a:noFill/>
          <a:ln>
            <a:noFill/>
          </a:ln>
          <a:effectLst>
            <a:outerShdw blurRad="45410" dir="18900000" dist="104791">
              <a:srgbClr val="000000">
                <a:alpha val="14901"/>
              </a:srgbClr>
            </a:outerShdw>
          </a:effectLst>
        </p:spPr>
      </p:pic>
      <p:pic>
        <p:nvPicPr>
          <p:cNvPr id="622" name="Google Shape;62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6548100" y="6286500"/>
            <a:ext cx="7353300" cy="4546600"/>
          </a:xfrm>
          <a:prstGeom prst="rect">
            <a:avLst/>
          </a:prstGeom>
          <a:noFill/>
          <a:ln>
            <a:noFill/>
          </a:ln>
          <a:effectLst>
            <a:outerShdw blurRad="45410" dir="18900000" dist="104791">
              <a:srgbClr val="000000">
                <a:alpha val="14901"/>
              </a:srgbClr>
            </a:outerShdw>
          </a:effectLst>
        </p:spPr>
      </p:pic>
      <p:pic>
        <p:nvPicPr>
          <p:cNvPr id="623" name="Google Shape;62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5842000" y="6286500"/>
            <a:ext cx="7353300" cy="4546600"/>
          </a:xfrm>
          <a:prstGeom prst="rect">
            <a:avLst/>
          </a:prstGeom>
          <a:noFill/>
          <a:ln>
            <a:noFill/>
          </a:ln>
          <a:effectLst>
            <a:outerShdw blurRad="45410" dir="18900000" dist="104791">
              <a:srgbClr val="000000">
                <a:alpha val="14901"/>
              </a:srgbClr>
            </a:outerShdw>
          </a:effectLst>
        </p:spPr>
      </p:pic>
      <p:pic>
        <p:nvPicPr>
          <p:cNvPr id="624" name="Google Shape;624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11188700" y="6286500"/>
            <a:ext cx="7353300" cy="4546600"/>
          </a:xfrm>
          <a:prstGeom prst="rect">
            <a:avLst/>
          </a:prstGeom>
          <a:noFill/>
          <a:ln>
            <a:noFill/>
          </a:ln>
          <a:effectLst>
            <a:outerShdw blurRad="45410" dir="18900000" dist="104791">
              <a:srgbClr val="000000">
                <a:alpha val="14901"/>
              </a:srgbClr>
            </a:outerShdw>
          </a:effectLst>
        </p:spPr>
      </p:pic>
      <p:pic>
        <p:nvPicPr>
          <p:cNvPr id="625" name="Google Shape;625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58100" y="8013700"/>
            <a:ext cx="37338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004800" y="8013700"/>
            <a:ext cx="37338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298700" y="8013700"/>
            <a:ext cx="37338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8389600" y="8013700"/>
            <a:ext cx="37338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429000" y="6299200"/>
            <a:ext cx="1270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839200" y="6184900"/>
            <a:ext cx="13462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4363700" y="6248400"/>
            <a:ext cx="1003300" cy="11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9685000" y="6324600"/>
            <a:ext cx="10795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"/>
          <p:cNvSpPr txBox="1"/>
          <p:nvPr/>
        </p:nvSpPr>
        <p:spPr>
          <a:xfrm>
            <a:off x="1968500" y="8153400"/>
            <a:ext cx="4381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"/>
          <p:cNvSpPr txBox="1"/>
          <p:nvPr/>
        </p:nvSpPr>
        <p:spPr>
          <a:xfrm>
            <a:off x="2209800" y="9093200"/>
            <a:ext cx="38988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분류 확률이 MIN_SOFTMAX 이상이어야 통과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"/>
          <p:cNvSpPr txBox="1"/>
          <p:nvPr/>
        </p:nvSpPr>
        <p:spPr>
          <a:xfrm>
            <a:off x="7327900" y="8153400"/>
            <a:ext cx="4381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Similarity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"/>
          <p:cNvSpPr txBox="1"/>
          <p:nvPr/>
        </p:nvSpPr>
        <p:spPr>
          <a:xfrm>
            <a:off x="7569200" y="9093200"/>
            <a:ext cx="38988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이미지의 similarity가 해당 클래스 threshold 이상이어야 통과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"/>
          <p:cNvSpPr txBox="1"/>
          <p:nvPr/>
        </p:nvSpPr>
        <p:spPr>
          <a:xfrm>
            <a:off x="12674600" y="8153400"/>
            <a:ext cx="4381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Top-1 일치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"/>
          <p:cNvSpPr txBox="1"/>
          <p:nvPr/>
        </p:nvSpPr>
        <p:spPr>
          <a:xfrm>
            <a:off x="12915900" y="9093200"/>
            <a:ext cx="38988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softmax top-1 클래스와 similarity top-1 클래스가 같아야 함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"/>
          <p:cNvSpPr txBox="1"/>
          <p:nvPr/>
        </p:nvSpPr>
        <p:spPr>
          <a:xfrm>
            <a:off x="18034000" y="8153400"/>
            <a:ext cx="43815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처리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"/>
          <p:cNvSpPr txBox="1"/>
          <p:nvPr/>
        </p:nvSpPr>
        <p:spPr>
          <a:xfrm>
            <a:off x="18275300" y="9093200"/>
            <a:ext cx="38988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세 조건 중 하나라도 실패하면 최종 결과를 unknown으로 판정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"/>
          <p:cNvSpPr txBox="1"/>
          <p:nvPr/>
        </p:nvSpPr>
        <p:spPr>
          <a:xfrm>
            <a:off x="1574800" y="1175707"/>
            <a:ext cx="21297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rmAutofit lnSpcReduction="20000"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rPr b="1" i="0" lang="en-US" sz="7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알약 외양 </a:t>
            </a:r>
            <a:r>
              <a:rPr b="1" i="0" lang="en-US" sz="7733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분류 모델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p4"/>
          <p:cNvGrpSpPr/>
          <p:nvPr/>
        </p:nvGrpSpPr>
        <p:grpSpPr>
          <a:xfrm>
            <a:off x="7924078" y="2743195"/>
            <a:ext cx="8542187" cy="1398050"/>
            <a:chOff x="8231120" y="424414"/>
            <a:chExt cx="6248400" cy="1022639"/>
          </a:xfrm>
        </p:grpSpPr>
        <p:pic>
          <p:nvPicPr>
            <p:cNvPr id="643" name="Google Shape;643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6"/>
                </a:srgbClr>
              </a:outerShdw>
            </a:effectLst>
          </p:spPr>
        </p:pic>
        <p:sp>
          <p:nvSpPr>
            <p:cNvPr id="644" name="Google Shape;644;p4"/>
            <p:cNvSpPr txBox="1"/>
            <p:nvPr/>
          </p:nvSpPr>
          <p:spPr>
            <a:xfrm>
              <a:off x="8542224" y="694653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28"/>
                <a:buFont typeface="Arial"/>
                <a:buNone/>
              </a:pPr>
              <a:r>
                <a:rPr lang="en-US" sz="4128"/>
                <a:t>분류 확률과 </a:t>
              </a:r>
              <a:r>
                <a:rPr b="0" i="0" lang="en-US" sz="412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유사도</a:t>
              </a:r>
              <a:r>
                <a:rPr lang="en-US" sz="4128"/>
                <a:t>를 결합한</a:t>
              </a:r>
              <a:r>
                <a:rPr b="0" i="0" lang="en-US" sz="412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판정</a:t>
              </a:r>
              <a:endParaRPr b="0" i="0" sz="22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g3f267c128d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100" y="444500"/>
            <a:ext cx="24790398" cy="127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g3f267c128d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0" y="-12700"/>
            <a:ext cx="6057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f267c128d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100" y="12687300"/>
            <a:ext cx="6070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f267c128da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f267c128da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f267c128da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0" y="6819900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g3f267c128da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6000" y="6832600"/>
            <a:ext cx="12763501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3f267c128da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g3f267c128da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0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f267c128da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800" y="4259545"/>
            <a:ext cx="65151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g3f267c128da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54400" y="4966222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g3f267c128da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6736045"/>
            <a:ext cx="65278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g3f267c128da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1700" y="7442722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g3f267c128da_0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5700" y="9250645"/>
            <a:ext cx="65405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3f267c128da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29000" y="9957322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3f267c128da_0_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26700" y="4970745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3f267c128da_0_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426700" y="7371045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f267c128da_0_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26700" y="9847545"/>
            <a:ext cx="736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g3f267c128da_0_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66500" y="4221445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668" name="Google Shape;668;g3f267c128da_0_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6500" y="6736045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pic>
        <p:nvPicPr>
          <p:cNvPr id="669" name="Google Shape;669;g3f267c128da_0_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366500" y="9250645"/>
            <a:ext cx="9626601" cy="2159000"/>
          </a:xfrm>
          <a:prstGeom prst="rect">
            <a:avLst/>
          </a:prstGeom>
          <a:noFill/>
          <a:ln>
            <a:noFill/>
          </a:ln>
          <a:effectLst>
            <a:outerShdw blurRad="10807" dir="2700000" dist="33251">
              <a:srgbClr val="000000">
                <a:alpha val="14900"/>
              </a:srgbClr>
            </a:outerShdw>
          </a:effectLst>
        </p:spPr>
      </p:pic>
      <p:sp>
        <p:nvSpPr>
          <p:cNvPr id="670" name="Google Shape;670;g3f267c128da_0_0"/>
          <p:cNvSpPr txBox="1"/>
          <p:nvPr/>
        </p:nvSpPr>
        <p:spPr>
          <a:xfrm>
            <a:off x="4209825" y="4693342"/>
            <a:ext cx="55791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예측값 비교</a:t>
            </a:r>
            <a:endParaRPr sz="6000"/>
          </a:p>
        </p:txBody>
      </p:sp>
      <p:sp>
        <p:nvSpPr>
          <p:cNvPr id="671" name="Google Shape;671;g3f267c128da_0_0"/>
          <p:cNvSpPr txBox="1"/>
          <p:nvPr/>
        </p:nvSpPr>
        <p:spPr>
          <a:xfrm>
            <a:off x="3479800" y="5081392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267c128da_0_0"/>
          <p:cNvSpPr txBox="1"/>
          <p:nvPr/>
        </p:nvSpPr>
        <p:spPr>
          <a:xfrm>
            <a:off x="4238000" y="7507092"/>
            <a:ext cx="5579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가중 점수 계산</a:t>
            </a:r>
            <a:endParaRPr sz="6000"/>
          </a:p>
        </p:txBody>
      </p:sp>
      <p:sp>
        <p:nvSpPr>
          <p:cNvPr id="673" name="Google Shape;673;g3f267c128da_0_0"/>
          <p:cNvSpPr txBox="1"/>
          <p:nvPr/>
        </p:nvSpPr>
        <p:spPr>
          <a:xfrm>
            <a:off x="3467100" y="7557892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267c128da_0_0"/>
          <p:cNvSpPr txBox="1"/>
          <p:nvPr/>
        </p:nvSpPr>
        <p:spPr>
          <a:xfrm>
            <a:off x="4572000" y="10008992"/>
            <a:ext cx="5245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75" lIns="0" spcFirstLastPara="1" rIns="0" wrap="square" tIns="346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상위 후보 출력</a:t>
            </a:r>
            <a:endParaRPr sz="6000"/>
          </a:p>
        </p:txBody>
      </p:sp>
      <p:sp>
        <p:nvSpPr>
          <p:cNvPr id="675" name="Google Shape;675;g3f267c128da_0_0"/>
          <p:cNvSpPr txBox="1"/>
          <p:nvPr/>
        </p:nvSpPr>
        <p:spPr>
          <a:xfrm>
            <a:off x="3454400" y="10059792"/>
            <a:ext cx="660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50">
            <a:norm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f267c128da_0_0"/>
          <p:cNvSpPr txBox="1"/>
          <p:nvPr/>
        </p:nvSpPr>
        <p:spPr>
          <a:xfrm>
            <a:off x="11801073" y="4789292"/>
            <a:ext cx="89085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외양, 색상, 문자/마크 모델의 예측값을 CSV 각 행의 외양·색상·문자/마크 컬럼과 비교한다. 예측값과 컬럼값이 일치하지 않으면 해당 분야 점수는 0으로 처리한다.</a:t>
            </a:r>
            <a:endParaRPr sz="2200"/>
          </a:p>
        </p:txBody>
      </p:sp>
      <p:sp>
        <p:nvSpPr>
          <p:cNvPr id="677" name="Google Shape;677;g3f267c128da_0_0"/>
          <p:cNvSpPr txBox="1"/>
          <p:nvPr/>
        </p:nvSpPr>
        <p:spPr>
          <a:xfrm>
            <a:off x="11772925" y="7316592"/>
            <a:ext cx="89085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 점수 = (외양 신뢰도 x 외양 가중치) + (색상 신뢰도 x 색상 가중치) + (문자/마크 신뢰도 x 문자/마크 가중치). 일치한 항목만 점수에 반영한다.</a:t>
            </a:r>
            <a:endParaRPr sz="2200"/>
          </a:p>
        </p:txBody>
      </p:sp>
      <p:sp>
        <p:nvSpPr>
          <p:cNvPr id="678" name="Google Shape;678;g3f267c128da_0_0"/>
          <p:cNvSpPr txBox="1"/>
          <p:nvPr/>
        </p:nvSpPr>
        <p:spPr>
          <a:xfrm>
            <a:off x="11772925" y="9818492"/>
            <a:ext cx="89085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모든 CSV 행에 대해 최종 점수를 계산한 뒤 점수 높은 순서로 정렬한다. 가장 높은 점수를 가진 알약 3개를 최종 후보로 출력한다.</a:t>
            </a:r>
            <a:endParaRPr sz="2200"/>
          </a:p>
        </p:txBody>
      </p:sp>
      <p:grpSp>
        <p:nvGrpSpPr>
          <p:cNvPr id="679" name="Google Shape;679;g3f267c128da_0_0"/>
          <p:cNvGrpSpPr/>
          <p:nvPr/>
        </p:nvGrpSpPr>
        <p:grpSpPr>
          <a:xfrm>
            <a:off x="7924079" y="2075140"/>
            <a:ext cx="8542187" cy="1371611"/>
            <a:chOff x="8231120" y="424414"/>
            <a:chExt cx="6248400" cy="1003300"/>
          </a:xfrm>
        </p:grpSpPr>
        <p:pic>
          <p:nvPicPr>
            <p:cNvPr id="680" name="Google Shape;680;g3f267c128da_0_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31120" y="424414"/>
              <a:ext cx="6248400" cy="1003300"/>
            </a:xfrm>
            <a:prstGeom prst="rect">
              <a:avLst/>
            </a:prstGeom>
            <a:noFill/>
            <a:ln>
              <a:noFill/>
            </a:ln>
            <a:effectLst>
              <a:outerShdw blurRad="27462" dir="2700000" dist="105621">
                <a:srgbClr val="000000">
                  <a:alpha val="30199"/>
                </a:srgbClr>
              </a:outerShdw>
            </a:effectLst>
          </p:spPr>
        </p:pic>
        <p:sp>
          <p:nvSpPr>
            <p:cNvPr id="681" name="Google Shape;681;g3f267c128da_0_0"/>
            <p:cNvSpPr txBox="1"/>
            <p:nvPr/>
          </p:nvSpPr>
          <p:spPr>
            <a:xfrm>
              <a:off x="8542224" y="633570"/>
              <a:ext cx="56262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8600">
              <a:noAutofit/>
            </a:bodyPr>
            <a:lstStyle/>
            <a:p>
              <a:pPr indent="0" lvl="0" marL="0" marR="0" rtl="0" algn="ctr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28"/>
                <a:buFont typeface="Arial"/>
                <a:buNone/>
              </a:pPr>
              <a:r>
                <a:rPr lang="en-US" sz="4828"/>
                <a:t>모델 합산 알약 예측</a:t>
              </a:r>
              <a:endParaRPr b="0" i="0" sz="291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g3ef6e153f72_1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ef6e153f72_1_3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ef6e153f72_1_3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g3ef6e153f72_1_3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g3ef6e153f72_1_3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g3ef6e153f72_1_3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ef6e153f72_1_3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g3ef6e153f72_1_3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g3ef6e153f72_1_3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3ef6e153f72_1_3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482599" y="6286501"/>
            <a:ext cx="7353302" cy="4546601"/>
          </a:xfrm>
          <a:prstGeom prst="rect">
            <a:avLst/>
          </a:prstGeom>
          <a:noFill/>
          <a:ln>
            <a:noFill/>
          </a:ln>
          <a:effectLst>
            <a:outerShdw blurRad="121093" dir="18900000" dist="279443">
              <a:srgbClr val="000000">
                <a:alpha val="14900"/>
              </a:srgbClr>
            </a:outerShdw>
          </a:effectLst>
        </p:spPr>
      </p:pic>
      <p:pic>
        <p:nvPicPr>
          <p:cNvPr id="696" name="Google Shape;696;g3ef6e153f72_1_3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6548100" y="6286501"/>
            <a:ext cx="7353302" cy="4546601"/>
          </a:xfrm>
          <a:prstGeom prst="rect">
            <a:avLst/>
          </a:prstGeom>
          <a:noFill/>
          <a:ln>
            <a:noFill/>
          </a:ln>
          <a:effectLst>
            <a:outerShdw blurRad="121093" dir="18900000" dist="279443">
              <a:srgbClr val="000000">
                <a:alpha val="14900"/>
              </a:srgbClr>
            </a:outerShdw>
          </a:effectLst>
        </p:spPr>
      </p:pic>
      <p:pic>
        <p:nvPicPr>
          <p:cNvPr id="697" name="Google Shape;697;g3ef6e153f72_1_3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5841999" y="6286501"/>
            <a:ext cx="7353302" cy="4546601"/>
          </a:xfrm>
          <a:prstGeom prst="rect">
            <a:avLst/>
          </a:prstGeom>
          <a:noFill/>
          <a:ln>
            <a:noFill/>
          </a:ln>
          <a:effectLst>
            <a:outerShdw blurRad="121093" dir="18900000" dist="279443">
              <a:srgbClr val="000000">
                <a:alpha val="14900"/>
              </a:srgbClr>
            </a:outerShdw>
          </a:effectLst>
        </p:spPr>
      </p:pic>
      <p:pic>
        <p:nvPicPr>
          <p:cNvPr id="698" name="Google Shape;698;g3ef6e153f72_1_3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11188700" y="6286501"/>
            <a:ext cx="7353302" cy="4546601"/>
          </a:xfrm>
          <a:prstGeom prst="rect">
            <a:avLst/>
          </a:prstGeom>
          <a:noFill/>
          <a:ln>
            <a:noFill/>
          </a:ln>
          <a:effectLst>
            <a:outerShdw blurRad="121093" dir="18900000" dist="279443">
              <a:srgbClr val="000000">
                <a:alpha val="14900"/>
              </a:srgbClr>
            </a:outerShdw>
          </a:effectLst>
        </p:spPr>
      </p:pic>
      <p:pic>
        <p:nvPicPr>
          <p:cNvPr id="699" name="Google Shape;699;g3ef6e153f72_1_3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51701" y="7048333"/>
            <a:ext cx="3733799" cy="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ef6e153f72_1_33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985501" y="1536701"/>
            <a:ext cx="2400301" cy="609600"/>
          </a:xfrm>
          <a:prstGeom prst="rect">
            <a:avLst/>
          </a:prstGeom>
          <a:noFill/>
          <a:ln>
            <a:noFill/>
          </a:ln>
          <a:effectLst>
            <a:outerShdw blurRad="32435" dir="2700000" dist="124747">
              <a:srgbClr val="000000">
                <a:alpha val="30199"/>
              </a:srgbClr>
            </a:outerShdw>
          </a:effectLst>
        </p:spPr>
      </p:pic>
      <p:pic>
        <p:nvPicPr>
          <p:cNvPr id="701" name="Google Shape;701;g3ef6e153f72_1_33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004800" y="7188067"/>
            <a:ext cx="3733799" cy="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ef6e153f72_1_33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292333" y="7015800"/>
            <a:ext cx="3733800" cy="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ef6e153f72_1_33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8449933" y="7188067"/>
            <a:ext cx="3733799" cy="698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ef6e153f72_1_339"/>
          <p:cNvSpPr txBox="1"/>
          <p:nvPr/>
        </p:nvSpPr>
        <p:spPr>
          <a:xfrm>
            <a:off x="2063568" y="7130235"/>
            <a:ext cx="438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3ef6e153f72_1_339"/>
          <p:cNvSpPr txBox="1"/>
          <p:nvPr/>
        </p:nvSpPr>
        <p:spPr>
          <a:xfrm>
            <a:off x="2222133" y="8264400"/>
            <a:ext cx="3899100" cy="20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사진 없이도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식별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ef6e153f72_1_339"/>
          <p:cNvSpPr txBox="1"/>
          <p:nvPr/>
        </p:nvSpPr>
        <p:spPr>
          <a:xfrm>
            <a:off x="10947400" y="1676400"/>
            <a:ext cx="2489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Chat bot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ef6e153f72_1_339"/>
          <p:cNvSpPr txBox="1"/>
          <p:nvPr/>
        </p:nvSpPr>
        <p:spPr>
          <a:xfrm>
            <a:off x="1574800" y="2616200"/>
            <a:ext cx="212976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알약 외형 </a:t>
            </a:r>
            <a:r>
              <a:rPr b="1" i="0" lang="en-US" sz="7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설명 기반 챗봇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ef6e153f72_1_339"/>
          <p:cNvSpPr txBox="1"/>
          <p:nvPr/>
        </p:nvSpPr>
        <p:spPr>
          <a:xfrm>
            <a:off x="7327867" y="7162800"/>
            <a:ext cx="438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when?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ef6e153f72_1_339"/>
          <p:cNvSpPr txBox="1"/>
          <p:nvPr/>
        </p:nvSpPr>
        <p:spPr>
          <a:xfrm>
            <a:off x="7573835" y="8018803"/>
            <a:ext cx="4105500" cy="28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이미 알약을 복용한 상황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조도가 낮아  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촬영 어려운 상황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ef6e153f72_1_339"/>
          <p:cNvSpPr txBox="1"/>
          <p:nvPr/>
        </p:nvSpPr>
        <p:spPr>
          <a:xfrm>
            <a:off x="12680901" y="7302533"/>
            <a:ext cx="438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How?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ef6e153f72_1_339"/>
          <p:cNvSpPr txBox="1"/>
          <p:nvPr/>
        </p:nvSpPr>
        <p:spPr>
          <a:xfrm>
            <a:off x="12922101" y="8448877"/>
            <a:ext cx="38991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표현을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DB 표준값으로 매핑 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ef6e153f72_1_339"/>
          <p:cNvSpPr txBox="1"/>
          <p:nvPr/>
        </p:nvSpPr>
        <p:spPr>
          <a:xfrm>
            <a:off x="18126035" y="7302533"/>
            <a:ext cx="4381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 분류와의 관계 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ef6e153f72_1_339"/>
          <p:cNvSpPr txBox="1"/>
          <p:nvPr/>
        </p:nvSpPr>
        <p:spPr>
          <a:xfrm>
            <a:off x="18284533" y="8454867"/>
            <a:ext cx="3899100" cy="20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사진 없을 때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자연어로 처리하는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보완적 채널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g3ef6e153f72_1_3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g3ef6e153f72_1_3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g3ef6e153f72_1_3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ef6e153f72_1_3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g3ef6e153f72_1_3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ef6e153f72_1_3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g3ef6e153f72_1_3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ef6e153f72_1_3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ef6e153f72_1_3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g3ef6e153f72_1_3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26637" y="2882395"/>
            <a:ext cx="13273038" cy="4600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g3ef6e153f72_1_37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134733" y="1422301"/>
            <a:ext cx="2120898" cy="609600"/>
          </a:xfrm>
          <a:prstGeom prst="rect">
            <a:avLst/>
          </a:prstGeom>
          <a:noFill/>
          <a:ln>
            <a:noFill/>
          </a:ln>
          <a:effectLst>
            <a:outerShdw blurRad="32435" dir="2700000" dist="124747">
              <a:srgbClr val="000000">
                <a:alpha val="30199"/>
              </a:srgbClr>
            </a:outerShdw>
          </a:effectLst>
        </p:spPr>
      </p:pic>
      <p:sp>
        <p:nvSpPr>
          <p:cNvPr id="729" name="Google Shape;729;g3ef6e153f72_1_370"/>
          <p:cNvSpPr txBox="1"/>
          <p:nvPr/>
        </p:nvSpPr>
        <p:spPr>
          <a:xfrm>
            <a:off x="11277600" y="1536733"/>
            <a:ext cx="1828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0" name="Google Shape;730;g3ef6e153f72_1_370"/>
          <p:cNvPicPr preferRelativeResize="0"/>
          <p:nvPr/>
        </p:nvPicPr>
        <p:blipFill rotWithShape="1">
          <a:blip r:embed="rId11">
            <a:alphaModFix/>
          </a:blip>
          <a:srcRect b="0" l="0" r="38348" t="0"/>
          <a:stretch/>
        </p:blipFill>
        <p:spPr>
          <a:xfrm>
            <a:off x="878035" y="2882368"/>
            <a:ext cx="8182997" cy="460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g3ef6e153f72_1_370"/>
          <p:cNvPicPr preferRelativeResize="0"/>
          <p:nvPr/>
        </p:nvPicPr>
        <p:blipFill rotWithShape="1">
          <a:blip r:embed="rId11">
            <a:alphaModFix/>
          </a:blip>
          <a:srcRect b="0" l="32323" r="0" t="0"/>
          <a:stretch/>
        </p:blipFill>
        <p:spPr>
          <a:xfrm>
            <a:off x="14367165" y="2821035"/>
            <a:ext cx="9222438" cy="47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g3ef6e153f72_1_370"/>
          <p:cNvSpPr txBox="1"/>
          <p:nvPr/>
        </p:nvSpPr>
        <p:spPr>
          <a:xfrm>
            <a:off x="694267" y="3947568"/>
            <a:ext cx="43377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입력</a:t>
            </a: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"분홍색에</a:t>
            </a:r>
            <a:endParaRPr b="1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원형이고</a:t>
            </a:r>
            <a:endParaRPr b="1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sj가 써져있고 </a:t>
            </a:r>
            <a:endParaRPr b="1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분할선이 있어"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ef6e153f72_1_370"/>
          <p:cNvSpPr txBox="1"/>
          <p:nvPr/>
        </p:nvSpPr>
        <p:spPr>
          <a:xfrm>
            <a:off x="14303667" y="3342493"/>
            <a:ext cx="4817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2: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글자/마크/분할선</a:t>
            </a: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ef6e153f72_1_370"/>
          <p:cNvSpPr txBox="1"/>
          <p:nvPr/>
        </p:nvSpPr>
        <p:spPr>
          <a:xfrm>
            <a:off x="14992968" y="4914733"/>
            <a:ext cx="35817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식별력 ★★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원형류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(원형/구형/도넛형)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ef6e153f72_1_370"/>
          <p:cNvSpPr txBox="1"/>
          <p:nvPr/>
        </p:nvSpPr>
        <p:spPr>
          <a:xfrm>
            <a:off x="9763035" y="3342499"/>
            <a:ext cx="4748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 1: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글자/마크/분할선</a:t>
            </a: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ef6e153f72_1_370"/>
          <p:cNvSpPr txBox="1"/>
          <p:nvPr/>
        </p:nvSpPr>
        <p:spPr>
          <a:xfrm>
            <a:off x="10499691" y="5369448"/>
            <a:ext cx="3581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식별력 ★★★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ChromaDB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메타데이터 필터 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ef6e153f72_1_370"/>
          <p:cNvSpPr txBox="1"/>
          <p:nvPr/>
        </p:nvSpPr>
        <p:spPr>
          <a:xfrm>
            <a:off x="19776968" y="4914669"/>
            <a:ext cx="35817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식별력 ★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ΔE 오름차순 정렬 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ef6e153f72_1_370"/>
          <p:cNvSpPr txBox="1"/>
          <p:nvPr/>
        </p:nvSpPr>
        <p:spPr>
          <a:xfrm>
            <a:off x="5524533" y="3449667"/>
            <a:ext cx="4337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자연어 파싱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ef6e153f72_1_370"/>
          <p:cNvSpPr txBox="1"/>
          <p:nvPr/>
        </p:nvSpPr>
        <p:spPr>
          <a:xfrm>
            <a:off x="19102867" y="3272893"/>
            <a:ext cx="4817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3: 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색상 Lab 거리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0" name="Google Shape;740;g3ef6e153f72_1_3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63568" y="4751069"/>
            <a:ext cx="3459502" cy="19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ef6e153f72_1_37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67000" y="8591733"/>
            <a:ext cx="6554666" cy="298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ef6e153f72_1_37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77597" y="8591699"/>
            <a:ext cx="14936334" cy="298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g3ef6e153f72_1_3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ef6e153f72_1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g3ef6e153f72_1_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g3ef6e153f72_1_3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77000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g3ef6e153f72_1_3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g3ef6e153f72_1_3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g3ef6e153f72_1_3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25999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3ef6e153f72_1_3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77800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g3ef6e153f72_1_3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ef6e153f72_1_39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07267" y="1247635"/>
            <a:ext cx="2120898" cy="609600"/>
          </a:xfrm>
          <a:prstGeom prst="rect">
            <a:avLst/>
          </a:prstGeom>
          <a:noFill/>
          <a:ln>
            <a:noFill/>
          </a:ln>
          <a:effectLst>
            <a:outerShdw blurRad="32435" dir="2700000" dist="124747">
              <a:srgbClr val="000000">
                <a:alpha val="30199"/>
              </a:srgbClr>
            </a:outerShdw>
          </a:effectLst>
        </p:spPr>
      </p:pic>
      <p:sp>
        <p:nvSpPr>
          <p:cNvPr id="757" name="Google Shape;757;g3ef6e153f72_1_398"/>
          <p:cNvSpPr txBox="1"/>
          <p:nvPr/>
        </p:nvSpPr>
        <p:spPr>
          <a:xfrm>
            <a:off x="1663280" y="4940304"/>
            <a:ext cx="10032900" cy="7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조건부 되묻기 -&gt; 정보 이론적 접근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후보 50개 초과 + 정보 부족 시에만 인터랙티브가 발동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"즉 , 필요할 때만 묻는다" 라는 방침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UX 부담 최소화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결과를 다시 학습 쌍으로 자동 생성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SBERT 재학습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정확도 향</a:t>
            </a:r>
            <a:r>
              <a:rPr lang="en-US" sz="3100"/>
              <a:t>상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ef6e153f72_1_398"/>
          <p:cNvSpPr txBox="1"/>
          <p:nvPr/>
        </p:nvSpPr>
        <p:spPr>
          <a:xfrm>
            <a:off x="2007267" y="4654704"/>
            <a:ext cx="74673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인터랙티브 흐름 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ef6e153f72_1_398"/>
          <p:cNvSpPr txBox="1"/>
          <p:nvPr/>
        </p:nvSpPr>
        <p:spPr>
          <a:xfrm>
            <a:off x="2153267" y="1371533"/>
            <a:ext cx="1828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ef6e153f72_1_398"/>
          <p:cNvSpPr txBox="1"/>
          <p:nvPr/>
        </p:nvSpPr>
        <p:spPr>
          <a:xfrm>
            <a:off x="1561960" y="2147011"/>
            <a:ext cx="83577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20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b="1" i="0" lang="en-US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능동적 정보 수집과 </a:t>
            </a:r>
            <a:endParaRPr b="1" i="0" sz="6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b="1" i="0" lang="en-US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진화하는 시스템</a:t>
            </a:r>
            <a:endParaRPr b="1" i="0" sz="6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g3ef6e153f72_1_39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478205" y="1022333"/>
            <a:ext cx="8848975" cy="11671333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ef6e153f72_1_398"/>
          <p:cNvSpPr txBox="1"/>
          <p:nvPr/>
        </p:nvSpPr>
        <p:spPr>
          <a:xfrm>
            <a:off x="1213475" y="12255400"/>
            <a:ext cx="11480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ChromaDB + SBERT +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RapidFuzz</a:t>
            </a:r>
            <a:r>
              <a:rPr b="0" i="0" lang="en-US" sz="2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Kiwi 형태소 분석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f6e153f72_1_61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0B122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ef6e153f72_1_619"/>
          <p:cNvSpPr/>
          <p:nvPr/>
        </p:nvSpPr>
        <p:spPr>
          <a:xfrm>
            <a:off x="0" y="0"/>
            <a:ext cx="24384000" cy="2469000"/>
          </a:xfrm>
          <a:prstGeom prst="rect">
            <a:avLst/>
          </a:prstGeom>
          <a:solidFill>
            <a:srgbClr val="1426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ef6e153f72_1_619"/>
          <p:cNvSpPr/>
          <p:nvPr/>
        </p:nvSpPr>
        <p:spPr>
          <a:xfrm>
            <a:off x="0" y="11795760"/>
            <a:ext cx="24384000" cy="1920300"/>
          </a:xfrm>
          <a:prstGeom prst="rect">
            <a:avLst/>
          </a:prstGeom>
          <a:solidFill>
            <a:srgbClr val="1426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ef6e153f72_1_619"/>
          <p:cNvSpPr/>
          <p:nvPr/>
        </p:nvSpPr>
        <p:spPr>
          <a:xfrm>
            <a:off x="609600" y="480060"/>
            <a:ext cx="23164800" cy="21900"/>
          </a:xfrm>
          <a:prstGeom prst="rect">
            <a:avLst/>
          </a:prstGeom>
          <a:solidFill>
            <a:srgbClr val="74D1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ef6e153f72_1_619"/>
          <p:cNvSpPr/>
          <p:nvPr/>
        </p:nvSpPr>
        <p:spPr>
          <a:xfrm>
            <a:off x="609600" y="13235940"/>
            <a:ext cx="23164800" cy="21900"/>
          </a:xfrm>
          <a:prstGeom prst="rect">
            <a:avLst/>
          </a:prstGeom>
          <a:solidFill>
            <a:srgbClr val="74D1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ef6e153f72_1_619"/>
          <p:cNvSpPr/>
          <p:nvPr/>
        </p:nvSpPr>
        <p:spPr>
          <a:xfrm>
            <a:off x="853440" y="342900"/>
            <a:ext cx="21900" cy="13030200"/>
          </a:xfrm>
          <a:prstGeom prst="rect">
            <a:avLst/>
          </a:prstGeom>
          <a:solidFill>
            <a:srgbClr val="74D1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ef6e153f72_1_619"/>
          <p:cNvSpPr/>
          <p:nvPr/>
        </p:nvSpPr>
        <p:spPr>
          <a:xfrm>
            <a:off x="23530560" y="342900"/>
            <a:ext cx="21900" cy="13030200"/>
          </a:xfrm>
          <a:prstGeom prst="rect">
            <a:avLst/>
          </a:prstGeom>
          <a:solidFill>
            <a:srgbClr val="74D1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ef6e153f72_1_619"/>
          <p:cNvSpPr/>
          <p:nvPr/>
        </p:nvSpPr>
        <p:spPr>
          <a:xfrm rot="899991">
            <a:off x="19019598" y="1097275"/>
            <a:ext cx="3413614" cy="617096"/>
          </a:xfrm>
          <a:prstGeom prst="roundRect">
            <a:avLst>
              <a:gd fmla="val 16667" name="adj"/>
            </a:avLst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ef6e153f72_1_619"/>
          <p:cNvSpPr/>
          <p:nvPr/>
        </p:nvSpPr>
        <p:spPr>
          <a:xfrm rot="892541">
            <a:off x="20716422" y="1200114"/>
            <a:ext cx="19866" cy="41959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ef6e153f72_1_619"/>
          <p:cNvSpPr/>
          <p:nvPr/>
        </p:nvSpPr>
        <p:spPr>
          <a:xfrm rot="-839886">
            <a:off x="1706931" y="10698505"/>
            <a:ext cx="3170038" cy="617156"/>
          </a:xfrm>
          <a:prstGeom prst="roundRect">
            <a:avLst>
              <a:gd fmla="val 16667" name="adj"/>
            </a:avLst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3ef6e153f72_1_619"/>
          <p:cNvSpPr/>
          <p:nvPr/>
        </p:nvSpPr>
        <p:spPr>
          <a:xfrm rot="-829719">
            <a:off x="3281778" y="10801384"/>
            <a:ext cx="20082" cy="41953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ef6e153f72_1_619"/>
          <p:cNvSpPr txBox="1"/>
          <p:nvPr/>
        </p:nvSpPr>
        <p:spPr>
          <a:xfrm>
            <a:off x="1584960" y="1401454"/>
            <a:ext cx="438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7DD3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결론</a:t>
            </a:r>
            <a:endParaRPr sz="4800"/>
          </a:p>
        </p:txBody>
      </p:sp>
      <p:sp>
        <p:nvSpPr>
          <p:cNvPr id="779" name="Google Shape;779;g3ef6e153f72_1_619"/>
          <p:cNvSpPr txBox="1"/>
          <p:nvPr/>
        </p:nvSpPr>
        <p:spPr>
          <a:xfrm>
            <a:off x="1584960" y="3116161"/>
            <a:ext cx="1706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이미지와 자연어를 결합한</a:t>
            </a:r>
            <a:endParaRPr sz="4000"/>
          </a:p>
        </p:txBody>
      </p:sp>
      <p:sp>
        <p:nvSpPr>
          <p:cNvPr id="780" name="Google Shape;780;g3ef6e153f72_1_619"/>
          <p:cNvSpPr txBox="1"/>
          <p:nvPr/>
        </p:nvSpPr>
        <p:spPr>
          <a:xfrm>
            <a:off x="1584960" y="3784009"/>
            <a:ext cx="175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식별 보완 시스템</a:t>
            </a:r>
            <a:endParaRPr sz="4000"/>
          </a:p>
        </p:txBody>
      </p:sp>
      <p:sp>
        <p:nvSpPr>
          <p:cNvPr id="781" name="Google Shape;781;g3ef6e153f72_1_619"/>
          <p:cNvSpPr txBox="1"/>
          <p:nvPr/>
        </p:nvSpPr>
        <p:spPr>
          <a:xfrm>
            <a:off x="1633725" y="5072112"/>
            <a:ext cx="1467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사진이 있을 때는 외양·색상·각인 모델의 가중 점수로,</a:t>
            </a:r>
            <a:endParaRPr sz="3600">
              <a:solidFill>
                <a:srgbClr val="CBD5E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사진이 없을 때는 챗봇의 외형 설명 분석으로 후보를 축소한다.</a:t>
            </a:r>
            <a:endParaRPr sz="3600"/>
          </a:p>
        </p:txBody>
      </p:sp>
      <p:sp>
        <p:nvSpPr>
          <p:cNvPr id="782" name="Google Shape;782;g3ef6e153f72_1_619"/>
          <p:cNvSpPr/>
          <p:nvPr/>
        </p:nvSpPr>
        <p:spPr>
          <a:xfrm>
            <a:off x="1633725" y="7015394"/>
            <a:ext cx="21116400" cy="2654400"/>
          </a:xfrm>
          <a:prstGeom prst="roundRect">
            <a:avLst>
              <a:gd fmla="val 16667" name="adj"/>
            </a:avLst>
          </a:prstGeom>
          <a:solidFill>
            <a:srgbClr val="172554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ef6e153f72_1_619"/>
          <p:cNvSpPr txBox="1"/>
          <p:nvPr/>
        </p:nvSpPr>
        <p:spPr>
          <a:xfrm>
            <a:off x="2372800" y="7653006"/>
            <a:ext cx="20082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모델이 아니라 여러 단서를 결합한 시스템이므로, 사용자 입력 환경에 따라 더 유연하고 안정적인 알약 식별을 제공할 수 있다.</a:t>
            </a:r>
            <a:endParaRPr sz="4000"/>
          </a:p>
        </p:txBody>
      </p:sp>
      <p:sp>
        <p:nvSpPr>
          <p:cNvPr id="784" name="Google Shape;784;g3ef6e153f72_1_619"/>
          <p:cNvSpPr txBox="1"/>
          <p:nvPr/>
        </p:nvSpPr>
        <p:spPr>
          <a:xfrm>
            <a:off x="1584960" y="12344400"/>
            <a:ext cx="975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딥러닝을 통한 알약 이미지 분류</a:t>
            </a:r>
            <a:endParaRPr/>
          </a:p>
        </p:txBody>
      </p:sp>
      <p:sp>
        <p:nvSpPr>
          <p:cNvPr id="785" name="Google Shape;785;g3ef6e153f72_1_619"/>
          <p:cNvSpPr txBox="1"/>
          <p:nvPr/>
        </p:nvSpPr>
        <p:spPr>
          <a:xfrm>
            <a:off x="13167360" y="12344400"/>
            <a:ext cx="9509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EfficientNetB0  +  ResNet18  +  YOLO11/CRNN  +  SBERT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g3ef6e153f72_1_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5099" y="444501"/>
            <a:ext cx="24790398" cy="1276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g3ef6e153f72_1_4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01" y="-12699"/>
            <a:ext cx="6057900" cy="1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g3ef6e153f72_1_4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6099" y="12687301"/>
            <a:ext cx="6070601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g3ef6e153f72_1_4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64301" y="457200"/>
            <a:ext cx="4737102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g3ef6e153f72_1_4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13208000"/>
            <a:ext cx="482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g3ef6e153f72_1_4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-5905501" y="6819901"/>
            <a:ext cx="12776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ef6e153f72_1_4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7513300" y="6832601"/>
            <a:ext cx="12763503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g3ef6e153f72_1_4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65101" y="114301"/>
            <a:ext cx="635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g3ef6e153f72_1_4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3583901" y="13512800"/>
            <a:ext cx="635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g3ef6e153f72_1_417"/>
          <p:cNvSpPr txBox="1"/>
          <p:nvPr/>
        </p:nvSpPr>
        <p:spPr>
          <a:xfrm>
            <a:off x="1524000" y="5029200"/>
            <a:ext cx="213873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n-US" sz="9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ef6e153f72_1_417"/>
          <p:cNvSpPr txBox="1"/>
          <p:nvPr/>
        </p:nvSpPr>
        <p:spPr>
          <a:xfrm>
            <a:off x="1638301" y="6870701"/>
            <a:ext cx="211200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경청해주셔서 감사합니다!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